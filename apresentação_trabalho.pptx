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3" r:id="rId1"/>
  </p:sldMasterIdLst>
  <p:notesMasterIdLst>
    <p:notesMasterId r:id="rId19"/>
  </p:notesMasterIdLst>
  <p:sldIdLst>
    <p:sldId id="256" r:id="rId2"/>
    <p:sldId id="264" r:id="rId3"/>
    <p:sldId id="265" r:id="rId4"/>
    <p:sldId id="266" r:id="rId5"/>
    <p:sldId id="258" r:id="rId6"/>
    <p:sldId id="259" r:id="rId7"/>
    <p:sldId id="267" r:id="rId8"/>
    <p:sldId id="269" r:id="rId9"/>
    <p:sldId id="268" r:id="rId10"/>
    <p:sldId id="270" r:id="rId11"/>
    <p:sldId id="277" r:id="rId12"/>
    <p:sldId id="278" r:id="rId13"/>
    <p:sldId id="272" r:id="rId14"/>
    <p:sldId id="273" r:id="rId15"/>
    <p:sldId id="275" r:id="rId16"/>
    <p:sldId id="279" r:id="rId17"/>
    <p:sldId id="262" r:id="rId18"/>
  </p:sldIdLst>
  <p:sldSz cx="12192000" cy="6858000"/>
  <p:notesSz cx="6858000" cy="9144000"/>
  <p:embeddedFontLst>
    <p:embeddedFont>
      <p:font typeface="Cambria Math" panose="02040503050406030204" pitchFamily="18" charset="0"/>
      <p:regular r:id="rId20"/>
    </p:embeddedFont>
    <p:embeddedFont>
      <p:font typeface="Fira Sans" panose="020B05030500000200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97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0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u Wuillaume (Nokia)" userId="083a375f-69a1-4c40-abb4-ce7ba86f36fc" providerId="ADAL" clId="{CBAB0D85-44C0-4A0F-99F2-B7FF565933E1}"/>
    <pc:docChg chg="undo custSel addSld modSld modMainMaster">
      <pc:chgData name="Malu Wuillaume (Nokia)" userId="083a375f-69a1-4c40-abb4-ce7ba86f36fc" providerId="ADAL" clId="{CBAB0D85-44C0-4A0F-99F2-B7FF565933E1}" dt="2026-06-10T12:46:06.350" v="97" actId="478"/>
      <pc:docMkLst>
        <pc:docMk/>
      </pc:docMkLst>
      <pc:sldChg chg="modSp mod">
        <pc:chgData name="Malu Wuillaume (Nokia)" userId="083a375f-69a1-4c40-abb4-ce7ba86f36fc" providerId="ADAL" clId="{CBAB0D85-44C0-4A0F-99F2-B7FF565933E1}" dt="2026-06-10T12:34:02.472" v="64"/>
        <pc:sldMkLst>
          <pc:docMk/>
          <pc:sldMk cId="0" sldId="258"/>
        </pc:sldMkLst>
        <pc:spChg chg="mod">
          <ac:chgData name="Malu Wuillaume (Nokia)" userId="083a375f-69a1-4c40-abb4-ce7ba86f36fc" providerId="ADAL" clId="{CBAB0D85-44C0-4A0F-99F2-B7FF565933E1}" dt="2026-06-10T12:34:02.472" v="64"/>
          <ac:spMkLst>
            <pc:docMk/>
            <pc:sldMk cId="0" sldId="258"/>
            <ac:spMk id="4" creationId="{8EB5C10B-1BD1-7CD1-2D3A-9562E1A6F78C}"/>
          </ac:spMkLst>
        </pc:spChg>
      </pc:sldChg>
      <pc:sldChg chg="addSp delSp mod">
        <pc:chgData name="Malu Wuillaume (Nokia)" userId="083a375f-69a1-4c40-abb4-ce7ba86f36fc" providerId="ADAL" clId="{CBAB0D85-44C0-4A0F-99F2-B7FF565933E1}" dt="2026-06-10T12:33:53.417" v="62" actId="22"/>
        <pc:sldMkLst>
          <pc:docMk/>
          <pc:sldMk cId="4028238874" sldId="266"/>
        </pc:sldMkLst>
        <pc:spChg chg="add del">
          <ac:chgData name="Malu Wuillaume (Nokia)" userId="083a375f-69a1-4c40-abb4-ce7ba86f36fc" providerId="ADAL" clId="{CBAB0D85-44C0-4A0F-99F2-B7FF565933E1}" dt="2026-06-10T12:33:53.417" v="62" actId="22"/>
          <ac:spMkLst>
            <pc:docMk/>
            <pc:sldMk cId="4028238874" sldId="266"/>
            <ac:spMk id="3" creationId="{C8F0B515-009C-650B-CD08-BCCB85C6408F}"/>
          </ac:spMkLst>
        </pc:spChg>
      </pc:sldChg>
      <pc:sldChg chg="addSp delSp modSp mod">
        <pc:chgData name="Malu Wuillaume (Nokia)" userId="083a375f-69a1-4c40-abb4-ce7ba86f36fc" providerId="ADAL" clId="{CBAB0D85-44C0-4A0F-99F2-B7FF565933E1}" dt="2026-06-10T12:42:49.106" v="77" actId="1076"/>
        <pc:sldMkLst>
          <pc:docMk/>
          <pc:sldMk cId="1364007384" sldId="275"/>
        </pc:sldMkLst>
        <pc:picChg chg="del">
          <ac:chgData name="Malu Wuillaume (Nokia)" userId="083a375f-69a1-4c40-abb4-ce7ba86f36fc" providerId="ADAL" clId="{CBAB0D85-44C0-4A0F-99F2-B7FF565933E1}" dt="2026-06-10T12:42:19.330" v="72" actId="478"/>
          <ac:picMkLst>
            <pc:docMk/>
            <pc:sldMk cId="1364007384" sldId="275"/>
            <ac:picMk id="3" creationId="{F202672D-023E-6E81-975C-D5FED6923B5C}"/>
          </ac:picMkLst>
        </pc:picChg>
        <pc:picChg chg="add mod">
          <ac:chgData name="Malu Wuillaume (Nokia)" userId="083a375f-69a1-4c40-abb4-ce7ba86f36fc" providerId="ADAL" clId="{CBAB0D85-44C0-4A0F-99F2-B7FF565933E1}" dt="2026-06-10T12:42:49.106" v="77" actId="1076"/>
          <ac:picMkLst>
            <pc:docMk/>
            <pc:sldMk cId="1364007384" sldId="275"/>
            <ac:picMk id="4" creationId="{5409AB21-B46D-D748-7392-7FD6C5816D57}"/>
          </ac:picMkLst>
        </pc:picChg>
        <pc:picChg chg="del">
          <ac:chgData name="Malu Wuillaume (Nokia)" userId="083a375f-69a1-4c40-abb4-ce7ba86f36fc" providerId="ADAL" clId="{CBAB0D85-44C0-4A0F-99F2-B7FF565933E1}" dt="2026-06-10T12:42:14.493" v="68" actId="478"/>
          <ac:picMkLst>
            <pc:docMk/>
            <pc:sldMk cId="1364007384" sldId="275"/>
            <ac:picMk id="5" creationId="{626902FA-D080-7985-64EA-5570B5069841}"/>
          </ac:picMkLst>
        </pc:picChg>
        <pc:picChg chg="add mod modCrop">
          <ac:chgData name="Malu Wuillaume (Nokia)" userId="083a375f-69a1-4c40-abb4-ce7ba86f36fc" providerId="ADAL" clId="{CBAB0D85-44C0-4A0F-99F2-B7FF565933E1}" dt="2026-06-10T12:42:47.483" v="76" actId="1076"/>
          <ac:picMkLst>
            <pc:docMk/>
            <pc:sldMk cId="1364007384" sldId="275"/>
            <ac:picMk id="7" creationId="{1249D493-573C-A493-8B10-B5D511C6BE45}"/>
          </ac:picMkLst>
        </pc:picChg>
      </pc:sldChg>
      <pc:sldChg chg="addSp delSp modSp mod">
        <pc:chgData name="Malu Wuillaume (Nokia)" userId="083a375f-69a1-4c40-abb4-ce7ba86f36fc" providerId="ADAL" clId="{CBAB0D85-44C0-4A0F-99F2-B7FF565933E1}" dt="2026-06-10T12:27:06.435" v="6" actId="478"/>
        <pc:sldMkLst>
          <pc:docMk/>
          <pc:sldMk cId="3123049564" sldId="277"/>
        </pc:sldMkLst>
        <pc:spChg chg="add del mod">
          <ac:chgData name="Malu Wuillaume (Nokia)" userId="083a375f-69a1-4c40-abb4-ce7ba86f36fc" providerId="ADAL" clId="{CBAB0D85-44C0-4A0F-99F2-B7FF565933E1}" dt="2026-06-10T12:27:06.435" v="6" actId="478"/>
          <ac:spMkLst>
            <pc:docMk/>
            <pc:sldMk cId="3123049564" sldId="277"/>
            <ac:spMk id="3" creationId="{3ABC612A-674F-6B01-4537-932F92D29C75}"/>
          </ac:spMkLst>
        </pc:spChg>
      </pc:sldChg>
      <pc:sldChg chg="delSp modSp add mod">
        <pc:chgData name="Malu Wuillaume (Nokia)" userId="083a375f-69a1-4c40-abb4-ce7ba86f36fc" providerId="ADAL" clId="{CBAB0D85-44C0-4A0F-99F2-B7FF565933E1}" dt="2026-06-10T12:46:06.350" v="97" actId="478"/>
        <pc:sldMkLst>
          <pc:docMk/>
          <pc:sldMk cId="1096917116" sldId="279"/>
        </pc:sldMkLst>
        <pc:spChg chg="mod">
          <ac:chgData name="Malu Wuillaume (Nokia)" userId="083a375f-69a1-4c40-abb4-ce7ba86f36fc" providerId="ADAL" clId="{CBAB0D85-44C0-4A0F-99F2-B7FF565933E1}" dt="2026-06-10T12:46:04.429" v="95" actId="20577"/>
          <ac:spMkLst>
            <pc:docMk/>
            <pc:sldMk cId="1096917116" sldId="279"/>
            <ac:spMk id="132" creationId="{F01CB168-18F5-667A-8873-FECF33444EAD}"/>
          </ac:spMkLst>
        </pc:spChg>
        <pc:picChg chg="del">
          <ac:chgData name="Malu Wuillaume (Nokia)" userId="083a375f-69a1-4c40-abb4-ce7ba86f36fc" providerId="ADAL" clId="{CBAB0D85-44C0-4A0F-99F2-B7FF565933E1}" dt="2026-06-10T12:46:05.812" v="96" actId="478"/>
          <ac:picMkLst>
            <pc:docMk/>
            <pc:sldMk cId="1096917116" sldId="279"/>
            <ac:picMk id="4" creationId="{422084A5-2C38-9F94-9785-41056A8AC480}"/>
          </ac:picMkLst>
        </pc:picChg>
        <pc:picChg chg="del">
          <ac:chgData name="Malu Wuillaume (Nokia)" userId="083a375f-69a1-4c40-abb4-ce7ba86f36fc" providerId="ADAL" clId="{CBAB0D85-44C0-4A0F-99F2-B7FF565933E1}" dt="2026-06-10T12:46:06.350" v="97" actId="478"/>
          <ac:picMkLst>
            <pc:docMk/>
            <pc:sldMk cId="1096917116" sldId="279"/>
            <ac:picMk id="7" creationId="{F5DD2D78-681C-9B9B-84AB-23524D37B3FB}"/>
          </ac:picMkLst>
        </pc:picChg>
      </pc:sldChg>
      <pc:sldMasterChg chg="modSp mod">
        <pc:chgData name="Malu Wuillaume (Nokia)" userId="083a375f-69a1-4c40-abb4-ce7ba86f36fc" providerId="ADAL" clId="{CBAB0D85-44C0-4A0F-99F2-B7FF565933E1}" dt="2026-06-10T12:36:54.713" v="67" actId="20577"/>
        <pc:sldMasterMkLst>
          <pc:docMk/>
          <pc:sldMasterMk cId="0" sldId="2147483663"/>
        </pc:sldMasterMkLst>
        <pc:spChg chg="mod">
          <ac:chgData name="Malu Wuillaume (Nokia)" userId="083a375f-69a1-4c40-abb4-ce7ba86f36fc" providerId="ADAL" clId="{CBAB0D85-44C0-4A0F-99F2-B7FF565933E1}" dt="2026-06-10T12:36:54.713" v="67" actId="20577"/>
          <ac:spMkLst>
            <pc:docMk/>
            <pc:sldMasterMk cId="0" sldId="2147483663"/>
            <ac:spMk id="16" creationId="{00000000-0000-0000-0000-000000000000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E2FC8EB8-8D5E-CE6A-BDF5-9183F0100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C6C10ACD-9B37-15D5-F25E-8FC5FDE51C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E9DBCE7D-D7FB-D4DA-5559-0100BE437E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55752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FB3A4E77-7042-41E4-FD5D-4BB2B6081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>
            <a:extLst>
              <a:ext uri="{FF2B5EF4-FFF2-40B4-BE49-F238E27FC236}">
                <a16:creationId xmlns:a16="http://schemas.microsoft.com/office/drawing/2014/main" id="{9F1D24B3-A5B0-F7B3-1535-3F1C4B0358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>
            <a:extLst>
              <a:ext uri="{FF2B5EF4-FFF2-40B4-BE49-F238E27FC236}">
                <a16:creationId xmlns:a16="http://schemas.microsoft.com/office/drawing/2014/main" id="{2473DB04-6C85-BF7D-E7B1-DFD4F75866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0448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EBFBCBFA-C278-1C41-1052-A5171BD71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8A1E9B65-A5F8-FBC9-DE56-E867D18413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39112CE6-D733-0DE9-B3E5-75D2024793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8435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32E72291-DE60-8C67-F38A-0BC06B984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BF6770C6-3AAF-8428-4D71-B5FF70C9C4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CE7238E2-2944-355C-F7EE-5D87DAA796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95689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48B2F5A9-941D-F640-8AD0-90D9C71C5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277E3995-2039-1642-2A4F-78F0167B8D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E28E908D-68A7-80A1-3D0E-C0B175A581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39183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EB7CE5B1-ECFB-E256-EFFB-4E5EEC6BB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D4EC5FBC-51BA-1477-0970-6F9F0DFBA1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50B1CC76-3B6A-15AE-381B-2B9132CB7C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84445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94E615E4-895C-42AF-7F3F-AA76CB2A6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>
            <a:extLst>
              <a:ext uri="{FF2B5EF4-FFF2-40B4-BE49-F238E27FC236}">
                <a16:creationId xmlns:a16="http://schemas.microsoft.com/office/drawing/2014/main" id="{7AC390D9-4535-136E-673B-E7023BF257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>
            <a:extLst>
              <a:ext uri="{FF2B5EF4-FFF2-40B4-BE49-F238E27FC236}">
                <a16:creationId xmlns:a16="http://schemas.microsoft.com/office/drawing/2014/main" id="{E03E8DEF-59BC-DBAE-CC73-EA1E3C36FF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69031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599D6A2A-75D3-F491-2778-3AC3C8DD6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BFF70AA0-949A-4123-2024-4301B0F87D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3A117951-8F5D-8E6F-3A1D-81F3F43AF5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02458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047833F0-48AE-1760-219F-EC336B994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DF967A31-C575-4362-C7F9-F5E47B309D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CC80F2CD-B57F-2710-A0D3-AF971C4D9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79479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DD393134-D5E4-DC40-C6AD-12FD74134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1F93FD86-8ED6-34FC-62CA-CCEDFDC6EC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4C5B3C18-CF16-0C10-F2C7-7AE631FFCF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04858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A20C1924-AFC9-AA3A-AD21-3054FB644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1F56A6C5-5516-D15C-4096-EC3E68262C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AF50E0FD-F164-5EE0-0F9B-14A8DAE677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53935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18532895-10ED-5B0C-1FDF-F902AABFA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11BD40C3-5CB8-CB6C-F044-DBA6372260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8CFBFA83-AEAF-28DA-9546-4366C44439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42063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A45106B7-D143-6BD3-7D2B-CABED933B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>
            <a:extLst>
              <a:ext uri="{FF2B5EF4-FFF2-40B4-BE49-F238E27FC236}">
                <a16:creationId xmlns:a16="http://schemas.microsoft.com/office/drawing/2014/main" id="{ADCD7CB4-9314-EE52-F3A5-AE6D993B5C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>
            <a:extLst>
              <a:ext uri="{FF2B5EF4-FFF2-40B4-BE49-F238E27FC236}">
                <a16:creationId xmlns:a16="http://schemas.microsoft.com/office/drawing/2014/main" id="{503CB851-576A-A1CC-09EF-6689C96D3B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00739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3780593" y="800861"/>
            <a:ext cx="8254849" cy="346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6000"/>
              <a:buFont typeface="Fira Sans"/>
              <a:buNone/>
              <a:defRPr sz="6000"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3780593" y="4414058"/>
            <a:ext cx="8289485" cy="901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2400">
                <a:solidFill>
                  <a:srgbClr val="38415C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0" name="Google Shape;20;p2" descr="A picture containing drawing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58794" y="219583"/>
            <a:ext cx="1800000" cy="777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 descr="A picture containing diagram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922" y="219583"/>
            <a:ext cx="4306211" cy="5515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26251" y="-45213"/>
            <a:ext cx="2165749" cy="1307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156557" y="1501428"/>
            <a:ext cx="11913522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3200"/>
              <a:buChar char="•"/>
              <a:defRPr sz="3200">
                <a:solidFill>
                  <a:srgbClr val="38415C"/>
                </a:solidFill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 sz="2800">
                <a:solidFill>
                  <a:srgbClr val="38415C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 sz="2400">
                <a:solidFill>
                  <a:srgbClr val="38415C"/>
                </a:solidFill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 sz="2000">
                <a:solidFill>
                  <a:srgbClr val="38415C"/>
                </a:solidFill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 sz="2000">
                <a:solidFill>
                  <a:srgbClr val="3841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1155469" y="66183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B976D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>
                <a:solidFill>
                  <a:srgbClr val="EB976D"/>
                </a:solidFill>
              </a:rPr>
              <a:t>Maria Luiza C. Wuillaume</a:t>
            </a:r>
            <a:endParaRPr lang="pt-BR" dirty="0">
              <a:solidFill>
                <a:srgbClr val="EB976D"/>
              </a:solidFill>
            </a:endParaRPr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Introdução à GNNs</a:t>
            </a:r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1155469" y="66183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208544" y="1500884"/>
            <a:ext cx="57600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>
                <a:solidFill>
                  <a:srgbClr val="38415C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>
                <a:solidFill>
                  <a:srgbClr val="38415C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>
                <a:solidFill>
                  <a:srgbClr val="38415C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>
                <a:solidFill>
                  <a:srgbClr val="38415C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>
                <a:solidFill>
                  <a:srgbClr val="3841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310079" y="1500884"/>
            <a:ext cx="57600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B976D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>
                <a:solidFill>
                  <a:srgbClr val="EB976D"/>
                </a:solidFill>
              </a:rPr>
              <a:t>Maria Luiza C. Wuillaume</a:t>
            </a:r>
            <a:endParaRPr lang="pt-BR" dirty="0">
              <a:solidFill>
                <a:srgbClr val="EB976D"/>
              </a:solidFill>
            </a:endParaRPr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Introdução à GNNs</a:t>
            </a:r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32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wo Content">
  <p:cSld name="2_Two Conte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1155469" y="66183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1"/>
          </p:nvPr>
        </p:nvSpPr>
        <p:spPr>
          <a:xfrm>
            <a:off x="6310079" y="1500884"/>
            <a:ext cx="57600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B976D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>
                <a:solidFill>
                  <a:srgbClr val="EB976D"/>
                </a:solidFill>
              </a:rPr>
              <a:t>Maria Luiza C. Wuillaume</a:t>
            </a:r>
            <a:endParaRPr lang="pt-BR">
              <a:solidFill>
                <a:srgbClr val="EB976D"/>
              </a:solidFill>
            </a:endParaRPr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Introdução à GNNs</a:t>
            </a:r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32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body" idx="1"/>
          </p:nvPr>
        </p:nvSpPr>
        <p:spPr>
          <a:xfrm>
            <a:off x="229859" y="1530777"/>
            <a:ext cx="5760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2400" b="1">
                <a:solidFill>
                  <a:srgbClr val="38415C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2"/>
          </p:nvPr>
        </p:nvSpPr>
        <p:spPr>
          <a:xfrm>
            <a:off x="229859" y="2184437"/>
            <a:ext cx="5760000" cy="3932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 b="0">
                <a:solidFill>
                  <a:srgbClr val="38415C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 b="0">
                <a:solidFill>
                  <a:srgbClr val="38415C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 b="0">
                <a:solidFill>
                  <a:srgbClr val="38415C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 b="0">
                <a:solidFill>
                  <a:srgbClr val="38415C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 b="0">
                <a:solidFill>
                  <a:srgbClr val="3841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body" idx="3"/>
          </p:nvPr>
        </p:nvSpPr>
        <p:spPr>
          <a:xfrm>
            <a:off x="6310079" y="1535885"/>
            <a:ext cx="5760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2400" b="1">
                <a:solidFill>
                  <a:srgbClr val="38415C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body" idx="4"/>
          </p:nvPr>
        </p:nvSpPr>
        <p:spPr>
          <a:xfrm>
            <a:off x="6310079" y="2184437"/>
            <a:ext cx="5760000" cy="3932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>
                <a:solidFill>
                  <a:srgbClr val="38415C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>
                <a:solidFill>
                  <a:srgbClr val="38415C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>
                <a:solidFill>
                  <a:srgbClr val="38415C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>
                <a:solidFill>
                  <a:srgbClr val="38415C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>
                <a:solidFill>
                  <a:srgbClr val="3841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1155469" y="66183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B976D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>
                <a:solidFill>
                  <a:srgbClr val="EB976D"/>
                </a:solidFill>
              </a:rPr>
              <a:t>Maria Luiza C. Wuillaume</a:t>
            </a:r>
            <a:endParaRPr lang="pt-BR" dirty="0">
              <a:solidFill>
                <a:srgbClr val="EB976D"/>
              </a:solidFill>
            </a:endParaRPr>
          </a:p>
        </p:txBody>
      </p:sp>
      <p:sp>
        <p:nvSpPr>
          <p:cNvPr id="60" name="Google Shape;60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Introdução à GNNs</a:t>
            </a:r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32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ison">
  <p:cSld name="1_Comparison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229859" y="1530777"/>
            <a:ext cx="5760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2400" b="1">
                <a:solidFill>
                  <a:srgbClr val="38415C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229859" y="2184437"/>
            <a:ext cx="5760000" cy="3932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 b="0">
                <a:solidFill>
                  <a:srgbClr val="38415C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 b="0">
                <a:solidFill>
                  <a:srgbClr val="38415C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 b="0">
                <a:solidFill>
                  <a:srgbClr val="38415C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 b="0">
                <a:solidFill>
                  <a:srgbClr val="38415C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 b="0">
                <a:solidFill>
                  <a:srgbClr val="3841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1155469" y="66183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B976D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>
                <a:solidFill>
                  <a:srgbClr val="EB976D"/>
                </a:solidFill>
              </a:rPr>
              <a:t>Maria Luiza C. Wuillaume</a:t>
            </a:r>
            <a:endParaRPr lang="pt-BR" dirty="0">
              <a:solidFill>
                <a:srgbClr val="EB976D"/>
              </a:solidFill>
            </a:endParaRPr>
          </a:p>
        </p:txBody>
      </p:sp>
      <p:sp>
        <p:nvSpPr>
          <p:cNvPr id="67" name="Google Shape;6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Introdução à GNNs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32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mparison">
  <p:cSld name="2_Comparis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>
            <a:spLocks noGrp="1"/>
          </p:cNvSpPr>
          <p:nvPr>
            <p:ph type="body" idx="1"/>
          </p:nvPr>
        </p:nvSpPr>
        <p:spPr>
          <a:xfrm>
            <a:off x="6310079" y="1535885"/>
            <a:ext cx="5760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2400" b="1">
                <a:solidFill>
                  <a:srgbClr val="38415C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2"/>
          </p:nvPr>
        </p:nvSpPr>
        <p:spPr>
          <a:xfrm>
            <a:off x="6310079" y="2184437"/>
            <a:ext cx="5760000" cy="3932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>
                <a:solidFill>
                  <a:srgbClr val="38415C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>
                <a:solidFill>
                  <a:srgbClr val="38415C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>
                <a:solidFill>
                  <a:srgbClr val="38415C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>
                <a:solidFill>
                  <a:srgbClr val="38415C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>
                <a:solidFill>
                  <a:srgbClr val="3841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1155469" y="66183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B976D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>
                <a:solidFill>
                  <a:srgbClr val="EB976D"/>
                </a:solidFill>
              </a:rPr>
              <a:t>Maria Luiza C. Wuillaume</a:t>
            </a:r>
            <a:endParaRPr lang="pt-BR" dirty="0">
              <a:solidFill>
                <a:srgbClr val="EB976D"/>
              </a:solidFill>
            </a:endParaRPr>
          </a:p>
        </p:txBody>
      </p:sp>
      <p:sp>
        <p:nvSpPr>
          <p:cNvPr id="74" name="Google Shape;7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Introdução à GNNs</a:t>
            </a:r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32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inição">
  <p:cSld name="Definição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156557" y="1501428"/>
            <a:ext cx="11913522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4800"/>
              <a:buNone/>
              <a:defRPr sz="4800" b="1">
                <a:solidFill>
                  <a:srgbClr val="38415C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3200"/>
              <a:buNone/>
              <a:defRPr sz="3200" b="0">
                <a:solidFill>
                  <a:srgbClr val="38415C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2800"/>
              <a:buNone/>
              <a:defRPr sz="2800" b="0">
                <a:solidFill>
                  <a:srgbClr val="38415C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2400" b="0">
                <a:solidFill>
                  <a:srgbClr val="38415C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2400" b="0">
                <a:solidFill>
                  <a:srgbClr val="3841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title"/>
          </p:nvPr>
        </p:nvSpPr>
        <p:spPr>
          <a:xfrm>
            <a:off x="1155469" y="66183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B976D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>
                <a:solidFill>
                  <a:srgbClr val="EB976D"/>
                </a:solidFill>
              </a:rPr>
              <a:t>Maria Luiza C. Wuillaume</a:t>
            </a:r>
            <a:endParaRPr lang="pt-BR" dirty="0">
              <a:solidFill>
                <a:srgbClr val="EB976D"/>
              </a:solidFill>
            </a:endParaRPr>
          </a:p>
        </p:txBody>
      </p:sp>
      <p:sp>
        <p:nvSpPr>
          <p:cNvPr id="80" name="Google Shape;8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Introdução à GNNs</a:t>
            </a:r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32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sta de Definições">
  <p:cSld name="Lista de Definiçõe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>
            <a:off x="156557" y="1501428"/>
            <a:ext cx="11913522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3200"/>
              <a:buChar char="•"/>
              <a:defRPr sz="3200" b="1">
                <a:solidFill>
                  <a:srgbClr val="38415C"/>
                </a:solidFill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 sz="2800">
                <a:solidFill>
                  <a:srgbClr val="38415C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 sz="2400">
                <a:solidFill>
                  <a:srgbClr val="38415C"/>
                </a:solidFill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 sz="2000">
                <a:solidFill>
                  <a:srgbClr val="38415C"/>
                </a:solidFill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 sz="2000">
                <a:solidFill>
                  <a:srgbClr val="3841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>
            <a:off x="1155469" y="66183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B976D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>
                <a:solidFill>
                  <a:srgbClr val="EB976D"/>
                </a:solidFill>
              </a:rPr>
              <a:t>Maria Luiza C. Wuillaume</a:t>
            </a:r>
            <a:endParaRPr lang="pt-BR" dirty="0">
              <a:solidFill>
                <a:srgbClr val="EB976D"/>
              </a:solidFill>
            </a:endParaRPr>
          </a:p>
        </p:txBody>
      </p:sp>
      <p:sp>
        <p:nvSpPr>
          <p:cNvPr id="86" name="Google Shape;8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Introdução à GNNs</a:t>
            </a:r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320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50">
  <p:cSld name="Logo50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38300" y="52387"/>
            <a:ext cx="8915400" cy="675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6211797"/>
            <a:ext cx="12192000" cy="646203"/>
          </a:xfrm>
          <a:prstGeom prst="rect">
            <a:avLst/>
          </a:prstGeom>
          <a:solidFill>
            <a:srgbClr val="38415C"/>
          </a:solidFill>
          <a:ln w="12700" cap="flat" cmpd="sng">
            <a:solidFill>
              <a:srgbClr val="38415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1155469" y="66183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 sz="5400" b="1" i="0" u="none" strike="noStrike" cap="none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156557" y="1501428"/>
            <a:ext cx="11913522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Introdução à GNNs</a:t>
            </a:r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2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r" rtl="0">
              <a:spcBef>
                <a:spcPts val="0"/>
              </a:spcBef>
              <a:buNone/>
              <a:defRPr sz="72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r" rtl="0">
              <a:spcBef>
                <a:spcPts val="0"/>
              </a:spcBef>
              <a:buNone/>
              <a:defRPr sz="72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r" rtl="0">
              <a:spcBef>
                <a:spcPts val="0"/>
              </a:spcBef>
              <a:buNone/>
              <a:defRPr sz="72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r" rtl="0">
              <a:spcBef>
                <a:spcPts val="0"/>
              </a:spcBef>
              <a:buNone/>
              <a:defRPr sz="72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r" rtl="0">
              <a:spcBef>
                <a:spcPts val="0"/>
              </a:spcBef>
              <a:buNone/>
              <a:defRPr sz="72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r" rtl="0">
              <a:spcBef>
                <a:spcPts val="0"/>
              </a:spcBef>
              <a:buNone/>
              <a:defRPr sz="72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r" rtl="0">
              <a:spcBef>
                <a:spcPts val="0"/>
              </a:spcBef>
              <a:buNone/>
              <a:defRPr sz="72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r" rtl="0">
              <a:spcBef>
                <a:spcPts val="0"/>
              </a:spcBef>
              <a:buNone/>
              <a:defRPr sz="72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3200" dirty="0"/>
          </a:p>
        </p:txBody>
      </p:sp>
      <p:pic>
        <p:nvPicPr>
          <p:cNvPr id="15" name="Google Shape;15;p1" descr="A picture containing orange, light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56557" y="91016"/>
            <a:ext cx="1033548" cy="1324688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"/>
          <p:cNvSpPr txBox="1"/>
          <p:nvPr/>
        </p:nvSpPr>
        <p:spPr>
          <a:xfrm>
            <a:off x="11450783" y="6431171"/>
            <a:ext cx="741217" cy="482136"/>
          </a:xfrm>
          <a:prstGeom prst="rect">
            <a:avLst/>
          </a:prstGeom>
          <a:noFill/>
          <a:ln w="12700" cap="flat" cmpd="sng">
            <a:solidFill>
              <a:srgbClr val="38415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i="0" u="none" strike="noStrike" cap="none" dirty="0">
                <a:solidFill>
                  <a:srgbClr val="EB976D"/>
                </a:solidFill>
                <a:latin typeface="Calibri"/>
                <a:ea typeface="Calibri"/>
                <a:cs typeface="Calibri"/>
                <a:sym typeface="Calibri"/>
              </a:rPr>
              <a:t>/15</a:t>
            </a:r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2" r:id="rId10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ctrTitle"/>
          </p:nvPr>
        </p:nvSpPr>
        <p:spPr>
          <a:xfrm>
            <a:off x="3780593" y="1954635"/>
            <a:ext cx="8254849" cy="2309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6000"/>
              <a:buFont typeface="Fira Sans"/>
              <a:buNone/>
            </a:pPr>
            <a:r>
              <a:rPr lang="pt-BR" sz="4500" dirty="0"/>
              <a:t>Detecção de Comunidades</a:t>
            </a:r>
            <a:br>
              <a:rPr lang="pt-BR" sz="4500" dirty="0"/>
            </a:br>
            <a:r>
              <a:rPr lang="pt-BR" sz="4500" dirty="0"/>
              <a:t>em Redes Complexas</a:t>
            </a:r>
            <a:br>
              <a:rPr lang="pt-BR" sz="4500" dirty="0"/>
            </a:br>
            <a:endParaRPr sz="4500" dirty="0"/>
          </a:p>
        </p:txBody>
      </p:sp>
      <p:sp>
        <p:nvSpPr>
          <p:cNvPr id="105" name="Google Shape;105;p17"/>
          <p:cNvSpPr txBox="1">
            <a:spLocks noGrp="1"/>
          </p:cNvSpPr>
          <p:nvPr>
            <p:ph type="subTitle" idx="1"/>
          </p:nvPr>
        </p:nvSpPr>
        <p:spPr>
          <a:xfrm>
            <a:off x="3763273" y="4146844"/>
            <a:ext cx="8289485" cy="148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</a:pPr>
            <a:r>
              <a:rPr lang="en-US" sz="2000" dirty="0"/>
              <a:t>Aluna: Maria Luiza C. Wuillaume</a:t>
            </a:r>
            <a:endParaRPr sz="2000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</a:pPr>
            <a:r>
              <a:rPr lang="pt-BR" sz="2000" dirty="0"/>
              <a:t>Professor: Daniel </a:t>
            </a:r>
            <a:r>
              <a:rPr lang="pt-BR" sz="2000" dirty="0" err="1"/>
              <a:t>Ratton</a:t>
            </a:r>
            <a:endParaRPr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9A2838-63E4-5C0D-865E-602E611A29EA}"/>
              </a:ext>
            </a:extLst>
          </p:cNvPr>
          <p:cNvSpPr txBox="1"/>
          <p:nvPr/>
        </p:nvSpPr>
        <p:spPr>
          <a:xfrm>
            <a:off x="5216213" y="5211376"/>
            <a:ext cx="538360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500" dirty="0" err="1">
                <a:solidFill>
                  <a:srgbClr val="94A3B8"/>
                </a:solidFill>
              </a:rPr>
              <a:t>Baseado</a:t>
            </a:r>
            <a:r>
              <a:rPr lang="en-US" sz="1500" dirty="0">
                <a:solidFill>
                  <a:srgbClr val="94A3B8"/>
                </a:solidFill>
              </a:rPr>
              <a:t> </a:t>
            </a:r>
            <a:r>
              <a:rPr lang="en-US" sz="1500" dirty="0" err="1">
                <a:solidFill>
                  <a:srgbClr val="94A3B8"/>
                </a:solidFill>
              </a:rPr>
              <a:t>em</a:t>
            </a:r>
            <a:r>
              <a:rPr lang="en-US" sz="1500" dirty="0">
                <a:solidFill>
                  <a:srgbClr val="94A3B8"/>
                </a:solidFill>
              </a:rPr>
              <a:t>: Liu &amp; Liu, Physica A 389 (2010) 2300–2309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C7744921-067C-DCC1-64A8-B0C72C36C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F1336427-ABC8-2B24-41AD-DBCCF8BA0D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5468" y="66183"/>
            <a:ext cx="12185627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5000" dirty="0" err="1"/>
              <a:t>Contextualização</a:t>
            </a:r>
            <a:r>
              <a:rPr lang="en-US" sz="5000" dirty="0"/>
              <a:t> do </a:t>
            </a:r>
            <a:r>
              <a:rPr lang="en-US" sz="5000" dirty="0" err="1"/>
              <a:t>Problema</a:t>
            </a:r>
            <a:r>
              <a:rPr lang="en-US" sz="5000" dirty="0"/>
              <a:t>: </a:t>
            </a:r>
            <a:br>
              <a:rPr lang="en-US" sz="5000" dirty="0"/>
            </a:br>
            <a:r>
              <a:rPr lang="pt-BR" sz="2000" dirty="0"/>
              <a:t>Detecção de Comunidades em Redes Complexas</a:t>
            </a:r>
            <a:endParaRPr sz="2000" dirty="0"/>
          </a:p>
        </p:txBody>
      </p:sp>
      <p:sp>
        <p:nvSpPr>
          <p:cNvPr id="124" name="Google Shape;124;p19">
            <a:extLst>
              <a:ext uri="{FF2B5EF4-FFF2-40B4-BE49-F238E27FC236}">
                <a16:creationId xmlns:a16="http://schemas.microsoft.com/office/drawing/2014/main" id="{6B660301-0C70-6AAA-42FF-2606CCC7F22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Maria Luiza C. Wuillaume</a:t>
            </a:r>
            <a:endParaRPr/>
          </a:p>
        </p:txBody>
      </p:sp>
      <p:sp>
        <p:nvSpPr>
          <p:cNvPr id="125" name="Google Shape;125;p19">
            <a:extLst>
              <a:ext uri="{FF2B5EF4-FFF2-40B4-BE49-F238E27FC236}">
                <a16:creationId xmlns:a16="http://schemas.microsoft.com/office/drawing/2014/main" id="{44190E16-9814-C4D7-3E06-D8C27EB9BE0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pt-BR" dirty="0"/>
              <a:t>Detecção de Comunidades</a:t>
            </a:r>
            <a:br>
              <a:rPr lang="pt-BR" dirty="0"/>
            </a:br>
            <a:r>
              <a:rPr lang="pt-BR" dirty="0"/>
              <a:t>em Redes Complexas</a:t>
            </a:r>
            <a:endParaRPr dirty="0"/>
          </a:p>
        </p:txBody>
      </p:sp>
      <p:sp>
        <p:nvSpPr>
          <p:cNvPr id="126" name="Google Shape;126;p19">
            <a:extLst>
              <a:ext uri="{FF2B5EF4-FFF2-40B4-BE49-F238E27FC236}">
                <a16:creationId xmlns:a16="http://schemas.microsoft.com/office/drawing/2014/main" id="{AA96E4AA-2B0D-E868-0548-915FC98FE8E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74872D-ECCB-B95D-D82A-4FDAAD7812FF}"/>
              </a:ext>
            </a:extLst>
          </p:cNvPr>
          <p:cNvSpPr txBox="1"/>
          <p:nvPr/>
        </p:nvSpPr>
        <p:spPr>
          <a:xfrm>
            <a:off x="799868" y="1767006"/>
            <a:ext cx="494053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Redes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complexas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possuem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grande volume de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nós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conexões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dificultando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compreensão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sua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estrutura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dos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relacionamentos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existentes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detecção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comunidades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busca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identificar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automaticamente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grupos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nós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fortemente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conectados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entre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reduzindo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complexidade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 rede e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revelando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padrões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estruturais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importantes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Essa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abordagem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é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útil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recomendação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conteúdo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análise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propagação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falhas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identificação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grupos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sociais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entre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outras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aplicações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pic>
        <p:nvPicPr>
          <p:cNvPr id="1032" name="Picture 8" descr="Community Detection Algorithms. Many of you are familiar with networks… |  by Thamindu Dilshan Jayawickrama | TDS Archive | Medium">
            <a:extLst>
              <a:ext uri="{FF2B5EF4-FFF2-40B4-BE49-F238E27FC236}">
                <a16:creationId xmlns:a16="http://schemas.microsoft.com/office/drawing/2014/main" id="{3484E7D0-8725-6980-C54E-C439A2580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9591" y="2450432"/>
            <a:ext cx="4940533" cy="271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1329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E7A59BB6-AD2E-E8F9-30D0-37895CDE0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>
            <a:extLst>
              <a:ext uri="{FF2B5EF4-FFF2-40B4-BE49-F238E27FC236}">
                <a16:creationId xmlns:a16="http://schemas.microsoft.com/office/drawing/2014/main" id="{BF8DCF3B-6478-1B3E-6033-DFA6E963B0A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780593" y="800861"/>
            <a:ext cx="8254849" cy="346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6000"/>
              <a:buFont typeface="Fira Sans"/>
              <a:buNone/>
            </a:pPr>
            <a:r>
              <a:rPr lang="pt-BR" dirty="0"/>
              <a:t>Método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2309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8816CB1E-76B4-DB87-7CAB-500E8B278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69CBC743-0AB4-14C3-5F84-7AC5B7D3FA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5469" y="66183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</a:pPr>
            <a:r>
              <a:rPr lang="pt-BR" dirty="0" err="1"/>
              <a:t>Datasets</a:t>
            </a:r>
            <a:r>
              <a:rPr lang="pt-BR" dirty="0"/>
              <a:t> Utilizados</a:t>
            </a:r>
            <a:endParaRPr dirty="0"/>
          </a:p>
        </p:txBody>
      </p:sp>
      <p:sp>
        <p:nvSpPr>
          <p:cNvPr id="124" name="Google Shape;124;p19">
            <a:extLst>
              <a:ext uri="{FF2B5EF4-FFF2-40B4-BE49-F238E27FC236}">
                <a16:creationId xmlns:a16="http://schemas.microsoft.com/office/drawing/2014/main" id="{B778524C-4C15-13EC-B627-8F43856537A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Maria Luiza C. Wuillaume</a:t>
            </a:r>
            <a:endParaRPr dirty="0"/>
          </a:p>
        </p:txBody>
      </p:sp>
      <p:sp>
        <p:nvSpPr>
          <p:cNvPr id="126" name="Google Shape;126;p19">
            <a:extLst>
              <a:ext uri="{FF2B5EF4-FFF2-40B4-BE49-F238E27FC236}">
                <a16:creationId xmlns:a16="http://schemas.microsoft.com/office/drawing/2014/main" id="{20B3DBC5-39BB-2174-5366-9879F943AE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</a:t>
            </a:fld>
            <a:endParaRPr dirty="0"/>
          </a:p>
        </p:txBody>
      </p:sp>
      <p:sp>
        <p:nvSpPr>
          <p:cNvPr id="6" name="Google Shape;125;p19">
            <a:extLst>
              <a:ext uri="{FF2B5EF4-FFF2-40B4-BE49-F238E27FC236}">
                <a16:creationId xmlns:a16="http://schemas.microsoft.com/office/drawing/2014/main" id="{198B1595-451D-DAC6-C39D-B0CE6D579CB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pt-BR" dirty="0"/>
              <a:t>Detecção de Comunidades</a:t>
            </a:r>
            <a:br>
              <a:rPr lang="pt-BR" dirty="0"/>
            </a:br>
            <a:r>
              <a:rPr lang="pt-BR" dirty="0"/>
              <a:t>em Redes Complexas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7EE47E-0063-5078-D87A-A7115FF40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471679"/>
              </p:ext>
            </p:extLst>
          </p:nvPr>
        </p:nvGraphicFramePr>
        <p:xfrm>
          <a:off x="1143000" y="1400519"/>
          <a:ext cx="9757545" cy="4365458"/>
        </p:xfrm>
        <a:graphic>
          <a:graphicData uri="http://schemas.openxmlformats.org/drawingml/2006/table">
            <a:tbl>
              <a:tblPr/>
              <a:tblGrid>
                <a:gridCol w="1041699">
                  <a:extLst>
                    <a:ext uri="{9D8B030D-6E8A-4147-A177-3AD203B41FA5}">
                      <a16:colId xmlns:a16="http://schemas.microsoft.com/office/drawing/2014/main" val="3720978581"/>
                    </a:ext>
                  </a:extLst>
                </a:gridCol>
                <a:gridCol w="638281">
                  <a:extLst>
                    <a:ext uri="{9D8B030D-6E8A-4147-A177-3AD203B41FA5}">
                      <a16:colId xmlns:a16="http://schemas.microsoft.com/office/drawing/2014/main" val="3072337818"/>
                    </a:ext>
                  </a:extLst>
                </a:gridCol>
                <a:gridCol w="1316057">
                  <a:extLst>
                    <a:ext uri="{9D8B030D-6E8A-4147-A177-3AD203B41FA5}">
                      <a16:colId xmlns:a16="http://schemas.microsoft.com/office/drawing/2014/main" val="1618250966"/>
                    </a:ext>
                  </a:extLst>
                </a:gridCol>
                <a:gridCol w="1662483">
                  <a:extLst>
                    <a:ext uri="{9D8B030D-6E8A-4147-A177-3AD203B41FA5}">
                      <a16:colId xmlns:a16="http://schemas.microsoft.com/office/drawing/2014/main" val="3970903857"/>
                    </a:ext>
                  </a:extLst>
                </a:gridCol>
                <a:gridCol w="2945607">
                  <a:extLst>
                    <a:ext uri="{9D8B030D-6E8A-4147-A177-3AD203B41FA5}">
                      <a16:colId xmlns:a16="http://schemas.microsoft.com/office/drawing/2014/main" val="3552768085"/>
                    </a:ext>
                  </a:extLst>
                </a:gridCol>
                <a:gridCol w="803348">
                  <a:extLst>
                    <a:ext uri="{9D8B030D-6E8A-4147-A177-3AD203B41FA5}">
                      <a16:colId xmlns:a16="http://schemas.microsoft.com/office/drawing/2014/main" val="2276858993"/>
                    </a:ext>
                  </a:extLst>
                </a:gridCol>
                <a:gridCol w="1350070">
                  <a:extLst>
                    <a:ext uri="{9D8B030D-6E8A-4147-A177-3AD203B41FA5}">
                      <a16:colId xmlns:a16="http://schemas.microsoft.com/office/drawing/2014/main" val="2260835836"/>
                    </a:ext>
                  </a:extLst>
                </a:gridCol>
              </a:tblGrid>
              <a:tr h="3527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Dataset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Tipo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Nós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Arestas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Descrição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Ground Truth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Nº Comunidades (GT)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762106"/>
                  </a:ext>
                </a:extLst>
              </a:tr>
              <a:tr h="5732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Karate Club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Real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78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Rede social de um clube de karatê universitário. Após disputa, o clube se dividiu em dois grupos.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276221"/>
                          </a:solidFill>
                          <a:effectLst/>
                          <a:latin typeface="Arial" panose="020B0604020202020204" pitchFamily="34" charset="0"/>
                        </a:rPr>
                        <a:t>Sim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529982"/>
                  </a:ext>
                </a:extLst>
              </a:tr>
              <a:tr h="5732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Dolphins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Real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62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159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Associações sociais frequentes entre golfinhos em Doubtful Sound, Nova Zelândia.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7D6608"/>
                          </a:solidFill>
                          <a:effectLst/>
                          <a:latin typeface="Arial" panose="020B0604020202020204" pitchFamily="34" charset="0"/>
                        </a:rPr>
                        <a:t>Parcial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387351"/>
                  </a:ext>
                </a:extLst>
              </a:tr>
              <a:tr h="5732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Political Books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Real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105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441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Rede de </a:t>
                      </a: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co-compra</a:t>
                      </a: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de livros políticos na </a:t>
                      </a: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Amazon</a:t>
                      </a: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 Arestas ligam livros comprados juntos.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276221"/>
                          </a:solidFill>
                          <a:effectLst/>
                          <a:latin typeface="Arial" panose="020B0604020202020204" pitchFamily="34" charset="0"/>
                        </a:rPr>
                        <a:t>Sim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421973"/>
                  </a:ext>
                </a:extLst>
              </a:tr>
              <a:tr h="5732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Les Misérables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Real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77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254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Interações entre personagens do romance de Victor Hugo. Arestas representam co-aparição em cenas.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Não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074697"/>
                  </a:ext>
                </a:extLst>
              </a:tr>
              <a:tr h="5732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Football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Real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115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613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dirty="0"/>
                        <a:t>Rede de jogos disputados entre equipes universitárias de futebol americano da Divisão IA na temporada regular de outono de 2000.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276221"/>
                          </a:solidFill>
                          <a:effectLst/>
                          <a:latin typeface="Arial" panose="020B0604020202020204" pitchFamily="34" charset="0"/>
                        </a:rPr>
                        <a:t>Sim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929516"/>
                  </a:ext>
                </a:extLst>
              </a:tr>
              <a:tr h="5732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 Hoc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Sintético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128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var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Benchmark clássico com 4 comunidades de 32 nós. Grau médio fixo em 16. Dificuldade controlada por </a:t>
                      </a: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z_out</a:t>
                      </a: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276221"/>
                          </a:solidFill>
                          <a:effectLst/>
                          <a:latin typeface="Arial" panose="020B0604020202020204" pitchFamily="34" charset="0"/>
                        </a:rPr>
                        <a:t>Sim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752905"/>
                  </a:ext>
                </a:extLst>
              </a:tr>
              <a:tr h="5732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Gaussian Mixture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Sintético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400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var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Rede gerada a partir de mistura de 3 gaussianas em 2D. Arestas por limiar de distância euclidiana.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276221"/>
                          </a:solidFill>
                          <a:effectLst/>
                          <a:latin typeface="Arial" panose="020B0604020202020204" pitchFamily="34" charset="0"/>
                        </a:rPr>
                        <a:t>Sim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817" marR="5817" marT="5817" marB="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427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8238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1155469" y="66183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</a:pPr>
            <a:br>
              <a:rPr lang="pt-BR" dirty="0"/>
            </a:br>
            <a:r>
              <a:rPr lang="pt-BR" dirty="0"/>
              <a:t>Framework Atual</a:t>
            </a:r>
            <a:br>
              <a:rPr lang="pt-BR" dirty="0"/>
            </a:br>
            <a:r>
              <a:rPr lang="pt-BR" sz="2200" dirty="0"/>
              <a:t>Inspirado no artigo base</a:t>
            </a:r>
            <a:br>
              <a:rPr lang="pt-BR" dirty="0"/>
            </a:br>
            <a:endParaRPr dirty="0"/>
          </a:p>
        </p:txBody>
      </p:sp>
      <p:sp>
        <p:nvSpPr>
          <p:cNvPr id="124" name="Google Shape;124;p19"/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Maria Luiza C. Wuillaume</a:t>
            </a:r>
            <a:endParaRPr dirty="0"/>
          </a:p>
        </p:txBody>
      </p:sp>
      <p:sp>
        <p:nvSpPr>
          <p:cNvPr id="126" name="Google Shape;126;p19"/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</a:t>
            </a:fld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EB5C10B-1BD1-7CD1-2D3A-9562E1A6F78C}"/>
                  </a:ext>
                </a:extLst>
              </p:cNvPr>
              <p:cNvSpPr txBox="1"/>
              <p:nvPr/>
            </p:nvSpPr>
            <p:spPr>
              <a:xfrm>
                <a:off x="662516" y="3255907"/>
                <a:ext cx="10183284" cy="26622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500" dirty="0"/>
                  <a:t>A rede é </a:t>
                </a:r>
                <a:r>
                  <a:rPr lang="en-US" sz="1500" dirty="0" err="1"/>
                  <a:t>representada</a:t>
                </a:r>
                <a:r>
                  <a:rPr lang="en-US" sz="1500" dirty="0"/>
                  <a:t> </a:t>
                </a:r>
                <a:r>
                  <a:rPr lang="en-US" sz="1500" dirty="0" err="1"/>
                  <a:t>como</a:t>
                </a:r>
                <a:r>
                  <a:rPr lang="en-US" sz="1500" dirty="0"/>
                  <a:t> um </a:t>
                </a:r>
                <a:r>
                  <a:rPr lang="en-US" sz="1500" dirty="0" err="1"/>
                  <a:t>grafo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sepChr m:val=","/>
                        <m:ctrlPr>
                          <a:rPr lang="ar-AE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5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e>
                        <m:r>
                          <a:rPr lang="ar-AE" sz="15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ar-AE" sz="1500" dirty="0"/>
                  <a:t>, </a:t>
                </a:r>
                <a:r>
                  <a:rPr lang="en-US" sz="1500" dirty="0"/>
                  <a:t> </a:t>
                </a:r>
                <a:r>
                  <a:rPr lang="en-US" sz="1500" dirty="0" err="1"/>
                  <a:t>que</a:t>
                </a:r>
                <a:r>
                  <a:rPr lang="en-US" sz="1500" dirty="0"/>
                  <a:t> </a:t>
                </a:r>
                <a:r>
                  <a:rPr lang="en-US" sz="1500" dirty="0" err="1"/>
                  <a:t>pode</a:t>
                </a:r>
                <a:r>
                  <a:rPr lang="en-US" sz="1500" dirty="0"/>
                  <a:t> ser </a:t>
                </a:r>
                <a:r>
                  <a:rPr lang="en-US" sz="1500" dirty="0" err="1"/>
                  <a:t>ponderado</a:t>
                </a:r>
                <a:endParaRPr lang="en-US" sz="15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5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500" dirty="0"/>
                  <a:t>Uma </a:t>
                </a:r>
                <a:r>
                  <a:rPr lang="en-US" sz="1500" dirty="0" err="1"/>
                  <a:t>matriz</a:t>
                </a:r>
                <a:r>
                  <a:rPr lang="en-US" sz="1500" dirty="0"/>
                  <a:t> de </a:t>
                </a:r>
                <a:r>
                  <a:rPr lang="en-US" sz="1500" dirty="0" err="1"/>
                  <a:t>distâncias</a:t>
                </a:r>
                <a:r>
                  <a:rPr lang="en-US" sz="1500" dirty="0"/>
                  <a:t> é </a:t>
                </a:r>
                <a:r>
                  <a:rPr lang="en-US" sz="1500" dirty="0" err="1"/>
                  <a:t>calculada</a:t>
                </a:r>
                <a:r>
                  <a:rPr lang="en-US" sz="1500" dirty="0"/>
                  <a:t> para </a:t>
                </a:r>
                <a:r>
                  <a:rPr lang="en-US" sz="1500" dirty="0" err="1"/>
                  <a:t>medir</a:t>
                </a:r>
                <a:r>
                  <a:rPr lang="en-US" sz="1500" dirty="0"/>
                  <a:t> o </a:t>
                </a:r>
                <a:r>
                  <a:rPr lang="en-US" sz="1500" dirty="0" err="1"/>
                  <a:t>grau</a:t>
                </a:r>
                <a:r>
                  <a:rPr lang="en-US" sz="1500" dirty="0"/>
                  <a:t> de </a:t>
                </a:r>
                <a:r>
                  <a:rPr lang="en-US" sz="1500" dirty="0" err="1"/>
                  <a:t>dissimilaridade</a:t>
                </a:r>
                <a:r>
                  <a:rPr lang="en-US" sz="1500" dirty="0"/>
                  <a:t> </a:t>
                </a:r>
                <a:r>
                  <a:rPr lang="en-US" sz="1500" dirty="0" err="1"/>
                  <a:t>estrutural</a:t>
                </a:r>
                <a:r>
                  <a:rPr lang="en-US" sz="1500" dirty="0"/>
                  <a:t> entre </a:t>
                </a:r>
                <a:r>
                  <a:rPr lang="en-US" sz="1500" dirty="0" err="1"/>
                  <a:t>os</a:t>
                </a:r>
                <a:r>
                  <a:rPr lang="en-US" sz="1500" dirty="0"/>
                  <a:t> </a:t>
                </a:r>
                <a:r>
                  <a:rPr lang="en-US" sz="1500" dirty="0" err="1"/>
                  <a:t>nós</a:t>
                </a:r>
                <a:r>
                  <a:rPr lang="en-US" sz="1500" dirty="0"/>
                  <a:t> da rede. </a:t>
                </a:r>
              </a:p>
              <a:p>
                <a:endParaRPr lang="en-US" sz="15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500" dirty="0"/>
                  <a:t>O </a:t>
                </a:r>
                <a:r>
                  <a:rPr lang="en-US" sz="1500" dirty="0" err="1"/>
                  <a:t>algoritmo</a:t>
                </a:r>
                <a:r>
                  <a:rPr lang="en-US" sz="1500" dirty="0"/>
                  <a:t> k-means </a:t>
                </a:r>
                <a:r>
                  <a:rPr lang="en-US" sz="1500" dirty="0" err="1"/>
                  <a:t>utiliza</a:t>
                </a:r>
                <a:r>
                  <a:rPr lang="en-US" sz="1500" dirty="0"/>
                  <a:t> </a:t>
                </a:r>
                <a:r>
                  <a:rPr lang="en-US" sz="1500" dirty="0" err="1"/>
                  <a:t>essas</a:t>
                </a:r>
                <a:r>
                  <a:rPr lang="en-US" sz="1500" dirty="0"/>
                  <a:t> </a:t>
                </a:r>
                <a:r>
                  <a:rPr lang="en-US" sz="1500" dirty="0" err="1"/>
                  <a:t>matriz</a:t>
                </a:r>
                <a:r>
                  <a:rPr lang="en-US" sz="1500" dirty="0"/>
                  <a:t> de </a:t>
                </a:r>
                <a:r>
                  <a:rPr lang="en-US" sz="1500" dirty="0" err="1"/>
                  <a:t>distâncias</a:t>
                </a:r>
                <a:r>
                  <a:rPr lang="en-US" sz="1500" dirty="0"/>
                  <a:t> para </a:t>
                </a:r>
                <a:r>
                  <a:rPr lang="en-US" sz="1500" dirty="0" err="1"/>
                  <a:t>formar</a:t>
                </a:r>
                <a:r>
                  <a:rPr lang="en-US" sz="1500" dirty="0"/>
                  <a:t> </a:t>
                </a:r>
                <a:r>
                  <a:rPr lang="en-US" sz="1500" dirty="0" err="1"/>
                  <a:t>agrupamentos</a:t>
                </a:r>
                <a:r>
                  <a:rPr lang="en-US" sz="1500" dirty="0"/>
                  <a:t> de comunidades. </a:t>
                </a:r>
              </a:p>
              <a:p>
                <a:endParaRPr lang="en-US" sz="15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500" dirty="0"/>
                  <a:t>O </a:t>
                </a:r>
                <a:r>
                  <a:rPr lang="pt-BR" sz="1500" dirty="0" err="1"/>
                  <a:t>Simulated</a:t>
                </a:r>
                <a:r>
                  <a:rPr lang="pt-BR" sz="1500" dirty="0"/>
                  <a:t> </a:t>
                </a:r>
                <a:r>
                  <a:rPr lang="pt-BR" sz="1500" dirty="0" err="1"/>
                  <a:t>Annealing</a:t>
                </a:r>
                <a:r>
                  <a:rPr lang="pt-BR" sz="1500" dirty="0"/>
                  <a:t> modifica iterativamente os agrupamentos e reexecuta o k-</a:t>
                </a:r>
                <a:r>
                  <a:rPr lang="pt-BR" sz="1500" dirty="0" err="1"/>
                  <a:t>means</a:t>
                </a:r>
                <a:r>
                  <a:rPr lang="pt-BR" sz="1500" dirty="0"/>
                  <a:t>, buscando maximizar </a:t>
                </a:r>
                <a:r>
                  <a:rPr lang="pt-BR" sz="1500" dirty="0" err="1"/>
                  <a:t>Silhuette</a:t>
                </a:r>
                <a:r>
                  <a:rPr lang="pt-BR" sz="1500" dirty="0"/>
                  <a:t> Score (</a:t>
                </a:r>
                <a:r>
                  <a:rPr lang="pt-BR" sz="1500" dirty="0">
                    <a:solidFill>
                      <a:schemeClr val="accent6"/>
                    </a:solidFill>
                  </a:rPr>
                  <a:t>substituindo a modularidade Q do artigo de referencia</a:t>
                </a:r>
                <a:r>
                  <a:rPr lang="pt-BR" sz="1500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pt-BR" sz="15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600" dirty="0"/>
                  <a:t>A suspeita é que Q superestima o número de comunidades, já que dividir comunidades quase sempre aumenta seu valor (</a:t>
                </a:r>
                <a:r>
                  <a:rPr lang="en-US" sz="1600" dirty="0"/>
                  <a:t>resolution limit</a:t>
                </a:r>
                <a:r>
                  <a:rPr lang="pt-BR" sz="1600" dirty="0"/>
                  <a:t>)</a:t>
                </a:r>
                <a:endParaRPr lang="en-US" sz="15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EB5C10B-1BD1-7CD1-2D3A-9562E1A6F7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16" y="3255907"/>
                <a:ext cx="10183284" cy="2662267"/>
              </a:xfrm>
              <a:prstGeom prst="rect">
                <a:avLst/>
              </a:prstGeom>
              <a:blipFill>
                <a:blip r:embed="rId3"/>
                <a:stretch>
                  <a:fillRect l="-240" t="-458" b="-2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125;p19">
            <a:extLst>
              <a:ext uri="{FF2B5EF4-FFF2-40B4-BE49-F238E27FC236}">
                <a16:creationId xmlns:a16="http://schemas.microsoft.com/office/drawing/2014/main" id="{AA59270F-67D6-17B3-C6B1-9FD7DAC1E4F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pt-BR" dirty="0"/>
              <a:t>Detecção de Comunidades</a:t>
            </a:r>
            <a:br>
              <a:rPr lang="pt-BR" dirty="0"/>
            </a:br>
            <a:r>
              <a:rPr lang="pt-BR" dirty="0"/>
              <a:t>em Redes Complexas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D24674-6B39-BB65-F73C-722E04B1F9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17" y="1779363"/>
            <a:ext cx="10825515" cy="10507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>
            <a:spLocks noGrp="1"/>
          </p:cNvSpPr>
          <p:nvPr>
            <p:ph type="title"/>
          </p:nvPr>
        </p:nvSpPr>
        <p:spPr>
          <a:xfrm>
            <a:off x="1155469" y="136525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pt-BR" dirty="0"/>
              <a:t>Medida de Proximidade</a:t>
            </a:r>
            <a:br>
              <a:rPr lang="pt-BR" dirty="0"/>
            </a:br>
            <a:r>
              <a:rPr lang="en-US" sz="2800" dirty="0"/>
              <a:t>Dissimilarity Index</a:t>
            </a:r>
            <a:endParaRPr dirty="0"/>
          </a:p>
        </p:txBody>
      </p:sp>
      <p:sp>
        <p:nvSpPr>
          <p:cNvPr id="133" name="Google Shape;133;p20"/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Maria Luiza C. Wuillaume</a:t>
            </a:r>
            <a:endParaRPr/>
          </a:p>
        </p:txBody>
      </p:sp>
      <p:sp>
        <p:nvSpPr>
          <p:cNvPr id="135" name="Google Shape;135;p20"/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13C8C2-5836-3F34-E716-3C4E7D4282B5}"/>
              </a:ext>
            </a:extLst>
          </p:cNvPr>
          <p:cNvSpPr txBox="1"/>
          <p:nvPr/>
        </p:nvSpPr>
        <p:spPr>
          <a:xfrm>
            <a:off x="147966" y="1859085"/>
            <a:ext cx="5303949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pt-BR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A métrica é baseada em um processo de </a:t>
            </a:r>
            <a:r>
              <a:rPr lang="pt-BR" altLang="en-US" sz="1300" dirty="0" err="1">
                <a:solidFill>
                  <a:schemeClr val="tx1"/>
                </a:solidFill>
                <a:latin typeface="Arial" panose="020B0604020202020204" pitchFamily="34" charset="0"/>
              </a:rPr>
              <a:t>random</a:t>
            </a:r>
            <a:r>
              <a:rPr lang="pt-BR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pt-BR" altLang="en-US" sz="1300" dirty="0" err="1">
                <a:solidFill>
                  <a:schemeClr val="tx1"/>
                </a:solidFill>
                <a:latin typeface="Arial" panose="020B0604020202020204" pitchFamily="34" charset="0"/>
              </a:rPr>
              <a:t>walk</a:t>
            </a:r>
            <a:r>
              <a:rPr lang="pt-BR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, no qual um caminhante aleatório percorre a rede entre os nós.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pt-BR" altLang="en-US" sz="13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pt-BR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Para cada nó x, calcula-se t(</a:t>
            </a:r>
            <a:r>
              <a:rPr lang="pt-BR" altLang="en-US" sz="1300" dirty="0" err="1">
                <a:solidFill>
                  <a:schemeClr val="tx1"/>
                </a:solidFill>
                <a:latin typeface="Arial" panose="020B0604020202020204" pitchFamily="34" charset="0"/>
              </a:rPr>
              <a:t>x,z</a:t>
            </a:r>
            <a:r>
              <a:rPr lang="pt-BR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), o número esperado de passos necessários para alcançar um nó z pela primeira vez (</a:t>
            </a:r>
            <a:r>
              <a:rPr lang="pt-BR" altLang="en-US" sz="1300" dirty="0" err="1">
                <a:solidFill>
                  <a:schemeClr val="tx1"/>
                </a:solidFill>
                <a:latin typeface="Arial" panose="020B0604020202020204" pitchFamily="34" charset="0"/>
              </a:rPr>
              <a:t>Mean</a:t>
            </a:r>
            <a:r>
              <a:rPr lang="pt-BR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pt-BR" altLang="en-US" sz="1300" dirty="0" err="1">
                <a:solidFill>
                  <a:schemeClr val="tx1"/>
                </a:solidFill>
                <a:latin typeface="Arial" panose="020B0604020202020204" pitchFamily="34" charset="0"/>
              </a:rPr>
              <a:t>First</a:t>
            </a:r>
            <a:r>
              <a:rPr lang="pt-BR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pt-BR" altLang="en-US" sz="1300" dirty="0" err="1">
                <a:solidFill>
                  <a:schemeClr val="tx1"/>
                </a:solidFill>
                <a:latin typeface="Arial" panose="020B0604020202020204" pitchFamily="34" charset="0"/>
              </a:rPr>
              <a:t>Passage</a:t>
            </a:r>
            <a:r>
              <a:rPr lang="pt-BR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 Time).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pt-BR" altLang="en-US" sz="13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pt-BR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Se dois nós x e y pertencem à mesma comunidade, seus tempos médios t(</a:t>
            </a:r>
            <a:r>
              <a:rPr lang="pt-BR" altLang="en-US" sz="1300" dirty="0" err="1">
                <a:solidFill>
                  <a:schemeClr val="tx1"/>
                </a:solidFill>
                <a:latin typeface="Arial" panose="020B0604020202020204" pitchFamily="34" charset="0"/>
              </a:rPr>
              <a:t>x,z</a:t>
            </a:r>
            <a:r>
              <a:rPr lang="pt-BR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) e t(</a:t>
            </a:r>
            <a:r>
              <a:rPr lang="pt-BR" altLang="en-US" sz="1300" dirty="0" err="1">
                <a:solidFill>
                  <a:schemeClr val="tx1"/>
                </a:solidFill>
                <a:latin typeface="Arial" panose="020B0604020202020204" pitchFamily="34" charset="0"/>
              </a:rPr>
              <a:t>y,z</a:t>
            </a:r>
            <a:r>
              <a:rPr lang="pt-BR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) tendem a ser semelhantes para os diferentes nós z da rede.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8" name="Picture 6" descr="Network meta‐analysis and random walks - Davies - 2022 - Statistics in  Medicine - Wiley Online Library">
            <a:extLst>
              <a:ext uri="{FF2B5EF4-FFF2-40B4-BE49-F238E27FC236}">
                <a16:creationId xmlns:a16="http://schemas.microsoft.com/office/drawing/2014/main" id="{C0E75255-E67E-DF1E-6B06-00F90F3A6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878" y="4092116"/>
            <a:ext cx="2610705" cy="1347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Google Shape;125;p19">
            <a:extLst>
              <a:ext uri="{FF2B5EF4-FFF2-40B4-BE49-F238E27FC236}">
                <a16:creationId xmlns:a16="http://schemas.microsoft.com/office/drawing/2014/main" id="{03959896-48ED-CDB8-223F-8FF7ECC7DBC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pt-BR" dirty="0"/>
              <a:t>Detecção de Comunidades</a:t>
            </a:r>
            <a:br>
              <a:rPr lang="pt-BR" dirty="0"/>
            </a:br>
            <a:r>
              <a:rPr lang="pt-BR" dirty="0"/>
              <a:t>em Redes Complexas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54B6DD-E8B6-DF39-06F1-2BF3376BA984}"/>
              </a:ext>
            </a:extLst>
          </p:cNvPr>
          <p:cNvSpPr txBox="1"/>
          <p:nvPr/>
        </p:nvSpPr>
        <p:spPr>
          <a:xfrm>
            <a:off x="5955260" y="1826833"/>
            <a:ext cx="61062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pt-BR" altLang="en-US" dirty="0">
                <a:solidFill>
                  <a:schemeClr val="tx1"/>
                </a:solidFill>
                <a:latin typeface="Arial" panose="020B0604020202020204" pitchFamily="34" charset="0"/>
              </a:rPr>
              <a:t>Podemos Calcular o </a:t>
            </a:r>
            <a:r>
              <a:rPr lang="pt-BR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Mean</a:t>
            </a:r>
            <a:r>
              <a:rPr lang="pt-BR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pt-BR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First</a:t>
            </a:r>
            <a:r>
              <a:rPr lang="pt-BR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pt-BR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Passage</a:t>
            </a:r>
            <a:r>
              <a:rPr lang="pt-BR" altLang="en-US" dirty="0">
                <a:solidFill>
                  <a:schemeClr val="tx1"/>
                </a:solidFill>
                <a:latin typeface="Arial" panose="020B0604020202020204" pitchFamily="34" charset="0"/>
              </a:rPr>
              <a:t> Time através de um sistema linear economizando tempo. Observe a recursão:</a:t>
            </a:r>
            <a:endParaRPr lang="pt-BR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76B2BEC-D726-2803-FF6C-BE6A9412F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8513" y="3989256"/>
            <a:ext cx="1731955" cy="14156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4569A82-5402-CF6B-1D8F-212B8196F9C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225"/>
          <a:stretch>
            <a:fillRect/>
          </a:stretch>
        </p:blipFill>
        <p:spPr>
          <a:xfrm>
            <a:off x="8454328" y="4576150"/>
            <a:ext cx="2697461" cy="82879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310C21E-84F2-126B-D6AC-1DC7B24340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122" y="2451110"/>
            <a:ext cx="3772426" cy="92405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8CB7F4B-AAB3-FC57-F58D-4934D01223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44" y="3951966"/>
            <a:ext cx="2534004" cy="81926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1D75B7E-09FD-DB33-4019-5D452F56B021}"/>
              </a:ext>
            </a:extLst>
          </p:cNvPr>
          <p:cNvSpPr txBox="1"/>
          <p:nvPr/>
        </p:nvSpPr>
        <p:spPr>
          <a:xfrm>
            <a:off x="5963851" y="3330797"/>
            <a:ext cx="61062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pt-BR" dirty="0"/>
              <a:t>Sendo B(y) é a matriz obtida a partir de P substituindo a coluna correspondente ao nó destino y por zeros.</a:t>
            </a:r>
            <a:endParaRPr lang="pt-BR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4610CC74-0191-FB59-D22A-78A3D057D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>
            <a:extLst>
              <a:ext uri="{FF2B5EF4-FFF2-40B4-BE49-F238E27FC236}">
                <a16:creationId xmlns:a16="http://schemas.microsoft.com/office/drawing/2014/main" id="{FFB04009-C831-0E3F-78EE-0A022C74F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71697"/>
            <a:ext cx="12192000" cy="304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575D098-E625-3617-A6CB-17CA84869973}"/>
              </a:ext>
            </a:extLst>
          </p:cNvPr>
          <p:cNvSpPr/>
          <p:nvPr/>
        </p:nvSpPr>
        <p:spPr>
          <a:xfrm>
            <a:off x="8247379" y="4060763"/>
            <a:ext cx="3822700" cy="197834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Google Shape;132;p20">
            <a:extLst>
              <a:ext uri="{FF2B5EF4-FFF2-40B4-BE49-F238E27FC236}">
                <a16:creationId xmlns:a16="http://schemas.microsoft.com/office/drawing/2014/main" id="{500A6C55-ED37-3B91-79D0-34E3F7D0F3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5469" y="136525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pt-BR" dirty="0" err="1"/>
              <a:t>Simulated</a:t>
            </a:r>
            <a:r>
              <a:rPr lang="pt-BR" dirty="0"/>
              <a:t> </a:t>
            </a:r>
            <a:r>
              <a:rPr lang="pt-BR" dirty="0" err="1"/>
              <a:t>Annealing</a:t>
            </a:r>
            <a:endParaRPr dirty="0"/>
          </a:p>
        </p:txBody>
      </p:sp>
      <p:sp>
        <p:nvSpPr>
          <p:cNvPr id="133" name="Google Shape;133;p20">
            <a:extLst>
              <a:ext uri="{FF2B5EF4-FFF2-40B4-BE49-F238E27FC236}">
                <a16:creationId xmlns:a16="http://schemas.microsoft.com/office/drawing/2014/main" id="{6ADD1272-1A39-78A3-2964-F59755589BC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Maria Luiza C. Wuillaume</a:t>
            </a:r>
            <a:endParaRPr/>
          </a:p>
        </p:txBody>
      </p:sp>
      <p:sp>
        <p:nvSpPr>
          <p:cNvPr id="135" name="Google Shape;135;p20">
            <a:extLst>
              <a:ext uri="{FF2B5EF4-FFF2-40B4-BE49-F238E27FC236}">
                <a16:creationId xmlns:a16="http://schemas.microsoft.com/office/drawing/2014/main" id="{DE9BCBB7-E80C-F9BF-987E-42A893901E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7</a:t>
            </a:fld>
            <a:endParaRPr dirty="0"/>
          </a:p>
        </p:txBody>
      </p:sp>
      <p:sp>
        <p:nvSpPr>
          <p:cNvPr id="34" name="Google Shape;125;p19">
            <a:extLst>
              <a:ext uri="{FF2B5EF4-FFF2-40B4-BE49-F238E27FC236}">
                <a16:creationId xmlns:a16="http://schemas.microsoft.com/office/drawing/2014/main" id="{922F2C62-879E-E603-3F22-B96A7B0341D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pt-BR" dirty="0"/>
              <a:t>Detecção de Comunidades</a:t>
            </a:r>
            <a:br>
              <a:rPr lang="pt-BR" dirty="0"/>
            </a:br>
            <a:r>
              <a:rPr lang="pt-BR" dirty="0"/>
              <a:t>em Redes Complexas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EA93ED-F98E-E612-7608-D25FF7B3C86E}"/>
              </a:ext>
            </a:extLst>
          </p:cNvPr>
          <p:cNvSpPr txBox="1"/>
          <p:nvPr/>
        </p:nvSpPr>
        <p:spPr>
          <a:xfrm>
            <a:off x="8348979" y="4134951"/>
            <a:ext cx="238442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pt-BR" sz="1300" b="1" dirty="0" err="1"/>
              <a:t>Community</a:t>
            </a:r>
            <a:r>
              <a:rPr lang="pt-BR" sz="1300" b="1" dirty="0"/>
              <a:t> </a:t>
            </a:r>
            <a:r>
              <a:rPr lang="pt-BR" sz="1300" b="1" dirty="0" err="1"/>
              <a:t>Strength</a:t>
            </a:r>
            <a:endParaRPr lang="pt-BR" altLang="en-US" sz="13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057436E-C2FB-23F0-ADC0-E0FE4BEC0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979" y="4491756"/>
            <a:ext cx="3346450" cy="69848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7A02AD9-D229-90FE-FA3D-6C783F32BBE1}"/>
              </a:ext>
            </a:extLst>
          </p:cNvPr>
          <p:cNvSpPr txBox="1"/>
          <p:nvPr/>
        </p:nvSpPr>
        <p:spPr>
          <a:xfrm>
            <a:off x="8418829" y="5086303"/>
            <a:ext cx="328612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/>
              <a:t>Para cada nó da comunidade, calcula-se a diferença entre o número de conexões internas (</a:t>
            </a:r>
            <a:r>
              <a:rPr lang="pt-BR" sz="1000" dirty="0" err="1"/>
              <a:t>din</a:t>
            </a:r>
            <a:r>
              <a:rPr lang="pt-BR" sz="1000" dirty="0"/>
              <a:t>) e o número de conexões externas (</a:t>
            </a:r>
            <a:r>
              <a:rPr lang="pt-BR" sz="1000" dirty="0" err="1"/>
              <a:t>dout</a:t>
            </a:r>
            <a:r>
              <a:rPr lang="pt-BR" sz="1000" dirty="0"/>
              <a:t>). A soma dessas diferenças para todos os nós da comunidade define sua for</a:t>
            </a:r>
            <a:r>
              <a:rPr lang="en-US" sz="1000" dirty="0" err="1"/>
              <a:t>ça</a:t>
            </a:r>
            <a:r>
              <a:rPr lang="en-US" sz="10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91123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324CBD3F-B5E6-52EF-8442-87B1C016E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>
            <a:extLst>
              <a:ext uri="{FF2B5EF4-FFF2-40B4-BE49-F238E27FC236}">
                <a16:creationId xmlns:a16="http://schemas.microsoft.com/office/drawing/2014/main" id="{FC4C92E7-7A83-3360-6D05-5C52A016B6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5469" y="136525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pt-BR" dirty="0" err="1"/>
              <a:t>Simulated</a:t>
            </a:r>
            <a:r>
              <a:rPr lang="pt-BR" dirty="0"/>
              <a:t> </a:t>
            </a:r>
            <a:r>
              <a:rPr lang="pt-BR" dirty="0" err="1"/>
              <a:t>Annealing</a:t>
            </a:r>
            <a:endParaRPr dirty="0"/>
          </a:p>
        </p:txBody>
      </p:sp>
      <p:sp>
        <p:nvSpPr>
          <p:cNvPr id="133" name="Google Shape;133;p20">
            <a:extLst>
              <a:ext uri="{FF2B5EF4-FFF2-40B4-BE49-F238E27FC236}">
                <a16:creationId xmlns:a16="http://schemas.microsoft.com/office/drawing/2014/main" id="{2E9274E5-29E8-72E5-F311-11199B0252C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Maria Luiza C. Wuillaume</a:t>
            </a:r>
            <a:endParaRPr/>
          </a:p>
        </p:txBody>
      </p:sp>
      <p:sp>
        <p:nvSpPr>
          <p:cNvPr id="135" name="Google Shape;135;p20">
            <a:extLst>
              <a:ext uri="{FF2B5EF4-FFF2-40B4-BE49-F238E27FC236}">
                <a16:creationId xmlns:a16="http://schemas.microsoft.com/office/drawing/2014/main" id="{7B881EA9-2923-C245-B39A-A02E7AA3F0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8</a:t>
            </a:fld>
            <a:endParaRPr dirty="0"/>
          </a:p>
        </p:txBody>
      </p:sp>
      <p:sp>
        <p:nvSpPr>
          <p:cNvPr id="34" name="Google Shape;125;p19">
            <a:extLst>
              <a:ext uri="{FF2B5EF4-FFF2-40B4-BE49-F238E27FC236}">
                <a16:creationId xmlns:a16="http://schemas.microsoft.com/office/drawing/2014/main" id="{20DDA456-C6F2-60B1-7FAF-E3F4A62D1BE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pt-BR" dirty="0"/>
              <a:t>Detecção de Comunidades</a:t>
            </a:r>
            <a:br>
              <a:rPr lang="pt-BR" dirty="0"/>
            </a:br>
            <a:r>
              <a:rPr lang="pt-BR" dirty="0"/>
              <a:t>em Redes Complexas</a:t>
            </a:r>
            <a:endParaRPr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80CB9AF-45F5-2F4E-07B4-C94B463F7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198928"/>
            <a:ext cx="7981950" cy="460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578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0D0ABAD2-CADC-EE71-D3A0-FB807B9E2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>
            <a:extLst>
              <a:ext uri="{FF2B5EF4-FFF2-40B4-BE49-F238E27FC236}">
                <a16:creationId xmlns:a16="http://schemas.microsoft.com/office/drawing/2014/main" id="{5F188631-CF98-8821-828B-4B792CCFED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5469" y="136525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pt-BR" dirty="0" err="1"/>
              <a:t>Exeperimentos</a:t>
            </a:r>
            <a:r>
              <a:rPr lang="pt-BR" dirty="0"/>
              <a:t> Realizados</a:t>
            </a:r>
            <a:endParaRPr dirty="0"/>
          </a:p>
        </p:txBody>
      </p:sp>
      <p:sp>
        <p:nvSpPr>
          <p:cNvPr id="133" name="Google Shape;133;p20">
            <a:extLst>
              <a:ext uri="{FF2B5EF4-FFF2-40B4-BE49-F238E27FC236}">
                <a16:creationId xmlns:a16="http://schemas.microsoft.com/office/drawing/2014/main" id="{CCAC26E5-F3AD-FBFB-67C7-47303339A62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Maria Luiza C. Wuillaume</a:t>
            </a:r>
            <a:endParaRPr/>
          </a:p>
        </p:txBody>
      </p:sp>
      <p:sp>
        <p:nvSpPr>
          <p:cNvPr id="135" name="Google Shape;135;p20">
            <a:extLst>
              <a:ext uri="{FF2B5EF4-FFF2-40B4-BE49-F238E27FC236}">
                <a16:creationId xmlns:a16="http://schemas.microsoft.com/office/drawing/2014/main" id="{02742DBF-2D0C-B384-49F9-CFA8EEB0503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9</a:t>
            </a:fld>
            <a:endParaRPr dirty="0"/>
          </a:p>
        </p:txBody>
      </p:sp>
      <p:sp>
        <p:nvSpPr>
          <p:cNvPr id="34" name="Google Shape;125;p19">
            <a:extLst>
              <a:ext uri="{FF2B5EF4-FFF2-40B4-BE49-F238E27FC236}">
                <a16:creationId xmlns:a16="http://schemas.microsoft.com/office/drawing/2014/main" id="{86B587FD-2E1E-A7EA-D6A6-4D31BB4F11F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pt-BR" dirty="0"/>
              <a:t>Detecção de Comunidades</a:t>
            </a:r>
            <a:br>
              <a:rPr lang="pt-BR" dirty="0"/>
            </a:br>
            <a:r>
              <a:rPr lang="pt-BR" dirty="0"/>
              <a:t>em Redes Complexas</a:t>
            </a:r>
            <a:endParaRPr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633AB61-FE5B-C6F2-9FD5-38B8545EF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09775"/>
            <a:ext cx="12192000" cy="247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A9A6BCD-D1D8-C73D-861A-7E9734AE6625}"/>
              </a:ext>
            </a:extLst>
          </p:cNvPr>
          <p:cNvSpPr txBox="1"/>
          <p:nvPr/>
        </p:nvSpPr>
        <p:spPr>
          <a:xfrm>
            <a:off x="550863" y="5097798"/>
            <a:ext cx="107394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Para comparar os experimentos, utilizamos os </a:t>
            </a:r>
            <a:r>
              <a:rPr lang="pt-BR" dirty="0" err="1"/>
              <a:t>datasets</a:t>
            </a:r>
            <a:r>
              <a:rPr lang="pt-BR" dirty="0"/>
              <a:t> que possuem </a:t>
            </a:r>
            <a:r>
              <a:rPr lang="pt-BR" dirty="0" err="1"/>
              <a:t>ground</a:t>
            </a:r>
            <a:r>
              <a:rPr lang="pt-BR" dirty="0"/>
              <a:t> </a:t>
            </a:r>
            <a:r>
              <a:rPr lang="pt-BR" dirty="0" err="1"/>
              <a:t>truth</a:t>
            </a:r>
            <a:r>
              <a:rPr lang="pt-BR" dirty="0"/>
              <a:t> para calcular o </a:t>
            </a:r>
            <a:r>
              <a:rPr lang="pt-BR" dirty="0" err="1"/>
              <a:t>Adjusted</a:t>
            </a:r>
            <a:r>
              <a:rPr lang="pt-BR" dirty="0"/>
              <a:t> </a:t>
            </a:r>
            <a:r>
              <a:rPr lang="pt-BR" dirty="0" err="1"/>
              <a:t>Rand</a:t>
            </a:r>
            <a:r>
              <a:rPr lang="pt-BR" dirty="0"/>
              <a:t> Index (ARI)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559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F29574ED-788F-A768-9C9C-4CA08C32B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>
            <a:extLst>
              <a:ext uri="{FF2B5EF4-FFF2-40B4-BE49-F238E27FC236}">
                <a16:creationId xmlns:a16="http://schemas.microsoft.com/office/drawing/2014/main" id="{C02AB582-4AD4-9543-C815-ABC444A4FA1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780593" y="800861"/>
            <a:ext cx="8254849" cy="346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6000"/>
              <a:buFont typeface="Fira Sans"/>
              <a:buNone/>
            </a:pPr>
            <a:r>
              <a:rPr lang="pt-BR" dirty="0"/>
              <a:t>Resultados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9025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79F04285-4D10-F3E8-142E-CB31ECB2C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>
            <a:extLst>
              <a:ext uri="{FF2B5EF4-FFF2-40B4-BE49-F238E27FC236}">
                <a16:creationId xmlns:a16="http://schemas.microsoft.com/office/drawing/2014/main" id="{1E3BE3A3-843C-8EE9-40B6-D1D58B8B9A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5469" y="136525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pt-BR" dirty="0"/>
              <a:t>Comparação Métricas</a:t>
            </a:r>
            <a:endParaRPr dirty="0"/>
          </a:p>
        </p:txBody>
      </p:sp>
      <p:sp>
        <p:nvSpPr>
          <p:cNvPr id="133" name="Google Shape;133;p20">
            <a:extLst>
              <a:ext uri="{FF2B5EF4-FFF2-40B4-BE49-F238E27FC236}">
                <a16:creationId xmlns:a16="http://schemas.microsoft.com/office/drawing/2014/main" id="{F1D05139-53D2-2B6A-C592-403B3ED4DD3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Maria Luiza C. Wuillaume</a:t>
            </a:r>
            <a:endParaRPr/>
          </a:p>
        </p:txBody>
      </p:sp>
      <p:sp>
        <p:nvSpPr>
          <p:cNvPr id="135" name="Google Shape;135;p20">
            <a:extLst>
              <a:ext uri="{FF2B5EF4-FFF2-40B4-BE49-F238E27FC236}">
                <a16:creationId xmlns:a16="http://schemas.microsoft.com/office/drawing/2014/main" id="{E83A394C-0FB3-6B32-79B9-594A4D8E63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11</a:t>
            </a:fld>
            <a:endParaRPr dirty="0"/>
          </a:p>
        </p:txBody>
      </p:sp>
      <p:sp>
        <p:nvSpPr>
          <p:cNvPr id="34" name="Google Shape;125;p19">
            <a:extLst>
              <a:ext uri="{FF2B5EF4-FFF2-40B4-BE49-F238E27FC236}">
                <a16:creationId xmlns:a16="http://schemas.microsoft.com/office/drawing/2014/main" id="{391E8720-5EAE-F325-7975-512552524AC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pt-BR" dirty="0"/>
              <a:t>Detecção de Comunidades</a:t>
            </a:r>
            <a:br>
              <a:rPr lang="pt-BR" dirty="0"/>
            </a:br>
            <a:r>
              <a:rPr lang="pt-BR" dirty="0"/>
              <a:t>em Redes Complexas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6F9285-1BA1-FD96-E191-87E7C4170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79571"/>
            <a:ext cx="12192000" cy="329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049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45089D80-F932-9190-160E-A7EEF9CC9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>
            <a:extLst>
              <a:ext uri="{FF2B5EF4-FFF2-40B4-BE49-F238E27FC236}">
                <a16:creationId xmlns:a16="http://schemas.microsoft.com/office/drawing/2014/main" id="{967FFF8C-6E35-DAE7-7369-21787BFABC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5469" y="136525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SzPts val="5400"/>
            </a:pPr>
            <a:r>
              <a:rPr lang="pt-BR" dirty="0"/>
              <a:t>Comparação Funções de Resfriamento</a:t>
            </a:r>
            <a:endParaRPr dirty="0"/>
          </a:p>
        </p:txBody>
      </p:sp>
      <p:sp>
        <p:nvSpPr>
          <p:cNvPr id="133" name="Google Shape;133;p20">
            <a:extLst>
              <a:ext uri="{FF2B5EF4-FFF2-40B4-BE49-F238E27FC236}">
                <a16:creationId xmlns:a16="http://schemas.microsoft.com/office/drawing/2014/main" id="{FDF9B17C-509A-7D0D-7864-6F7922D5236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Maria Luiza C. Wuillaume</a:t>
            </a:r>
            <a:endParaRPr/>
          </a:p>
        </p:txBody>
      </p:sp>
      <p:sp>
        <p:nvSpPr>
          <p:cNvPr id="135" name="Google Shape;135;p20">
            <a:extLst>
              <a:ext uri="{FF2B5EF4-FFF2-40B4-BE49-F238E27FC236}">
                <a16:creationId xmlns:a16="http://schemas.microsoft.com/office/drawing/2014/main" id="{FB481CFD-9849-D317-11B9-F2604EEE33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12</a:t>
            </a:fld>
            <a:endParaRPr dirty="0"/>
          </a:p>
        </p:txBody>
      </p:sp>
      <p:sp>
        <p:nvSpPr>
          <p:cNvPr id="34" name="Google Shape;125;p19">
            <a:extLst>
              <a:ext uri="{FF2B5EF4-FFF2-40B4-BE49-F238E27FC236}">
                <a16:creationId xmlns:a16="http://schemas.microsoft.com/office/drawing/2014/main" id="{4D38E546-9C43-F003-557A-B45ED138AC0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pt-BR" dirty="0"/>
              <a:t>Detecção de Comunidades</a:t>
            </a:r>
            <a:br>
              <a:rPr lang="pt-BR" dirty="0"/>
            </a:br>
            <a:r>
              <a:rPr lang="pt-BR" dirty="0"/>
              <a:t>em Redes Complexas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ED8016-AED8-03E9-0610-453E3833E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87104"/>
            <a:ext cx="12192000" cy="3325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220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FF6C4F83-FCBE-9969-B67B-372BB805E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>
            <a:extLst>
              <a:ext uri="{FF2B5EF4-FFF2-40B4-BE49-F238E27FC236}">
                <a16:creationId xmlns:a16="http://schemas.microsoft.com/office/drawing/2014/main" id="{994738AA-B1B8-5F4B-DE36-A25CF306DE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5469" y="136525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pt-BR" dirty="0" err="1"/>
              <a:t>Dolphins</a:t>
            </a:r>
            <a:endParaRPr dirty="0"/>
          </a:p>
        </p:txBody>
      </p:sp>
      <p:sp>
        <p:nvSpPr>
          <p:cNvPr id="133" name="Google Shape;133;p20">
            <a:extLst>
              <a:ext uri="{FF2B5EF4-FFF2-40B4-BE49-F238E27FC236}">
                <a16:creationId xmlns:a16="http://schemas.microsoft.com/office/drawing/2014/main" id="{478042AC-B05C-BB27-672C-49F871CB426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Maria Luiza C. Wuillaume</a:t>
            </a:r>
            <a:endParaRPr/>
          </a:p>
        </p:txBody>
      </p:sp>
      <p:sp>
        <p:nvSpPr>
          <p:cNvPr id="135" name="Google Shape;135;p20">
            <a:extLst>
              <a:ext uri="{FF2B5EF4-FFF2-40B4-BE49-F238E27FC236}">
                <a16:creationId xmlns:a16="http://schemas.microsoft.com/office/drawing/2014/main" id="{F3CA2094-FF82-B3B9-E7C3-CA2153F102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13</a:t>
            </a:fld>
            <a:endParaRPr dirty="0"/>
          </a:p>
        </p:txBody>
      </p:sp>
      <p:sp>
        <p:nvSpPr>
          <p:cNvPr id="34" name="Google Shape;125;p19">
            <a:extLst>
              <a:ext uri="{FF2B5EF4-FFF2-40B4-BE49-F238E27FC236}">
                <a16:creationId xmlns:a16="http://schemas.microsoft.com/office/drawing/2014/main" id="{3DDFB8F4-97F7-F1E6-C298-E5CFD9CD2E1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pt-BR" dirty="0"/>
              <a:t>Detecção de Comunidades</a:t>
            </a:r>
            <a:br>
              <a:rPr lang="pt-BR" dirty="0"/>
            </a:br>
            <a:r>
              <a:rPr lang="pt-BR" dirty="0"/>
              <a:t>em Redes Complexas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1A7027-8348-BFA3-9218-C5CE03223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803" y="1470861"/>
            <a:ext cx="5169197" cy="36184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66ABE2-0B1B-E1DE-3D18-68005F22F2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0801" y="1470861"/>
            <a:ext cx="5169197" cy="36184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30B0993-3E9B-4199-12DB-FF8A31B20EA0}"/>
              </a:ext>
            </a:extLst>
          </p:cNvPr>
          <p:cNvSpPr txBox="1"/>
          <p:nvPr/>
        </p:nvSpPr>
        <p:spPr>
          <a:xfrm>
            <a:off x="874712" y="5193393"/>
            <a:ext cx="101615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Apesar de não possuir </a:t>
            </a:r>
            <a:r>
              <a:rPr lang="pt-BR" dirty="0" err="1"/>
              <a:t>ground</a:t>
            </a:r>
            <a:r>
              <a:rPr lang="pt-BR" dirty="0"/>
              <a:t> </a:t>
            </a:r>
            <a:r>
              <a:rPr lang="pt-BR" dirty="0" err="1"/>
              <a:t>truth</a:t>
            </a:r>
            <a:r>
              <a:rPr lang="pt-BR" dirty="0"/>
              <a:t> formal, a literatura sugere que o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 err="1"/>
              <a:t>Dolphins</a:t>
            </a:r>
            <a:r>
              <a:rPr lang="pt-BR" dirty="0"/>
              <a:t> pode ser dividido em 2 comunidades principais (</a:t>
            </a:r>
            <a:r>
              <a:rPr lang="pt-BR" dirty="0" err="1"/>
              <a:t>Lusseau</a:t>
            </a:r>
            <a:r>
              <a:rPr lang="pt-BR" dirty="0"/>
              <a:t> et al., 2003).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370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DF223B11-3776-B685-A37E-8608B7DD9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>
            <a:extLst>
              <a:ext uri="{FF2B5EF4-FFF2-40B4-BE49-F238E27FC236}">
                <a16:creationId xmlns:a16="http://schemas.microsoft.com/office/drawing/2014/main" id="{D2E29579-6EA2-0AD7-21D2-894E83B568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5469" y="136525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pt-BR" dirty="0" err="1"/>
              <a:t>Political</a:t>
            </a:r>
            <a:r>
              <a:rPr lang="pt-BR" dirty="0"/>
              <a:t> Books</a:t>
            </a:r>
            <a:endParaRPr dirty="0"/>
          </a:p>
        </p:txBody>
      </p:sp>
      <p:sp>
        <p:nvSpPr>
          <p:cNvPr id="133" name="Google Shape;133;p20">
            <a:extLst>
              <a:ext uri="{FF2B5EF4-FFF2-40B4-BE49-F238E27FC236}">
                <a16:creationId xmlns:a16="http://schemas.microsoft.com/office/drawing/2014/main" id="{866CCA36-3E07-D1E1-6850-77455BF8972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Maria Luiza C. Wuillaume</a:t>
            </a:r>
            <a:endParaRPr dirty="0"/>
          </a:p>
        </p:txBody>
      </p:sp>
      <p:sp>
        <p:nvSpPr>
          <p:cNvPr id="135" name="Google Shape;135;p20">
            <a:extLst>
              <a:ext uri="{FF2B5EF4-FFF2-40B4-BE49-F238E27FC236}">
                <a16:creationId xmlns:a16="http://schemas.microsoft.com/office/drawing/2014/main" id="{9B34838F-167A-E65A-BB13-1D852DB9CC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14</a:t>
            </a:fld>
            <a:endParaRPr dirty="0"/>
          </a:p>
        </p:txBody>
      </p:sp>
      <p:sp>
        <p:nvSpPr>
          <p:cNvPr id="34" name="Google Shape;125;p19">
            <a:extLst>
              <a:ext uri="{FF2B5EF4-FFF2-40B4-BE49-F238E27FC236}">
                <a16:creationId xmlns:a16="http://schemas.microsoft.com/office/drawing/2014/main" id="{7188B9D9-EAD3-26F5-DABE-833B08A2C50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pt-BR" dirty="0"/>
              <a:t>Detecção de Comunidades</a:t>
            </a:r>
            <a:br>
              <a:rPr lang="pt-BR" dirty="0"/>
            </a:br>
            <a:r>
              <a:rPr lang="pt-BR" dirty="0"/>
              <a:t>em Redes Complexas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09A062-F0E8-3087-1571-FBD9D951D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33" y="2162199"/>
            <a:ext cx="7746933" cy="2905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39DBEE-72AE-86F6-AA1A-2922ACA2F3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709"/>
          <a:stretch>
            <a:fillRect/>
          </a:stretch>
        </p:blipFill>
        <p:spPr>
          <a:xfrm>
            <a:off x="7746934" y="2116445"/>
            <a:ext cx="4114800" cy="2950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746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D669FADE-7E27-0730-C674-61FCC3580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>
            <a:extLst>
              <a:ext uri="{FF2B5EF4-FFF2-40B4-BE49-F238E27FC236}">
                <a16:creationId xmlns:a16="http://schemas.microsoft.com/office/drawing/2014/main" id="{276C0B56-3F2E-D288-196F-AB1389031D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5469" y="136525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pt-BR" dirty="0"/>
              <a:t>Football</a:t>
            </a:r>
            <a:endParaRPr dirty="0"/>
          </a:p>
        </p:txBody>
      </p:sp>
      <p:sp>
        <p:nvSpPr>
          <p:cNvPr id="133" name="Google Shape;133;p20">
            <a:extLst>
              <a:ext uri="{FF2B5EF4-FFF2-40B4-BE49-F238E27FC236}">
                <a16:creationId xmlns:a16="http://schemas.microsoft.com/office/drawing/2014/main" id="{3AF5D45C-2124-D211-3A35-26B4EBB2C38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Maria Luiza C. Wuillaume</a:t>
            </a:r>
            <a:endParaRPr dirty="0"/>
          </a:p>
        </p:txBody>
      </p:sp>
      <p:sp>
        <p:nvSpPr>
          <p:cNvPr id="135" name="Google Shape;135;p20">
            <a:extLst>
              <a:ext uri="{FF2B5EF4-FFF2-40B4-BE49-F238E27FC236}">
                <a16:creationId xmlns:a16="http://schemas.microsoft.com/office/drawing/2014/main" id="{7FE6CD47-FF8A-DFBC-DD82-9288EA236E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15</a:t>
            </a:fld>
            <a:endParaRPr dirty="0"/>
          </a:p>
        </p:txBody>
      </p:sp>
      <p:sp>
        <p:nvSpPr>
          <p:cNvPr id="34" name="Google Shape;125;p19">
            <a:extLst>
              <a:ext uri="{FF2B5EF4-FFF2-40B4-BE49-F238E27FC236}">
                <a16:creationId xmlns:a16="http://schemas.microsoft.com/office/drawing/2014/main" id="{48601447-2454-0C85-3571-166403B265C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pt-BR" dirty="0"/>
              <a:t>Detecção de Comunidades</a:t>
            </a:r>
            <a:br>
              <a:rPr lang="pt-BR" dirty="0"/>
            </a:br>
            <a:r>
              <a:rPr lang="pt-BR" dirty="0"/>
              <a:t>em Redes Complexas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09AB21-B46D-D748-7392-7FD6C5816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57" y="1902251"/>
            <a:ext cx="7867650" cy="29503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49D493-573C-A493-8B10-B5D511C6BE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0"/>
          <a:stretch>
            <a:fillRect/>
          </a:stretch>
        </p:blipFill>
        <p:spPr>
          <a:xfrm>
            <a:off x="7892069" y="1831869"/>
            <a:ext cx="3876483" cy="290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007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65AD184C-E0AB-2312-B182-6489CA1F2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>
            <a:extLst>
              <a:ext uri="{FF2B5EF4-FFF2-40B4-BE49-F238E27FC236}">
                <a16:creationId xmlns:a16="http://schemas.microsoft.com/office/drawing/2014/main" id="{F01CB168-18F5-667A-8873-FECF33444E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5469" y="136525"/>
            <a:ext cx="10914610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pt-BR" dirty="0"/>
              <a:t>Referências</a:t>
            </a:r>
            <a:endParaRPr dirty="0"/>
          </a:p>
        </p:txBody>
      </p:sp>
      <p:sp>
        <p:nvSpPr>
          <p:cNvPr id="133" name="Google Shape;133;p20">
            <a:extLst>
              <a:ext uri="{FF2B5EF4-FFF2-40B4-BE49-F238E27FC236}">
                <a16:creationId xmlns:a16="http://schemas.microsoft.com/office/drawing/2014/main" id="{86AD594C-3585-5384-B677-9034B16675D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56557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Maria Luiza C. Wuillaume</a:t>
            </a:r>
            <a:endParaRPr dirty="0"/>
          </a:p>
        </p:txBody>
      </p:sp>
      <p:sp>
        <p:nvSpPr>
          <p:cNvPr id="135" name="Google Shape;135;p20">
            <a:extLst>
              <a:ext uri="{FF2B5EF4-FFF2-40B4-BE49-F238E27FC236}">
                <a16:creationId xmlns:a16="http://schemas.microsoft.com/office/drawing/2014/main" id="{E25334DE-391B-A34B-F0DB-BC7C4FEC9B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801100" y="63501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16</a:t>
            </a:fld>
            <a:endParaRPr dirty="0"/>
          </a:p>
        </p:txBody>
      </p:sp>
      <p:sp>
        <p:nvSpPr>
          <p:cNvPr id="34" name="Google Shape;125;p19">
            <a:extLst>
              <a:ext uri="{FF2B5EF4-FFF2-40B4-BE49-F238E27FC236}">
                <a16:creationId xmlns:a16="http://schemas.microsoft.com/office/drawing/2014/main" id="{33220D69-1E59-6DFE-265D-DAE09F50950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pt-BR" dirty="0"/>
              <a:t>Detecção de Comunidades</a:t>
            </a:r>
            <a:br>
              <a:rPr lang="pt-BR" dirty="0"/>
            </a:br>
            <a:r>
              <a:rPr lang="pt-BR" dirty="0"/>
              <a:t>em Redes Complexas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6917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>
            <a:spLocks noGrp="1"/>
          </p:cNvSpPr>
          <p:nvPr>
            <p:ph type="ctrTitle"/>
          </p:nvPr>
        </p:nvSpPr>
        <p:spPr>
          <a:xfrm>
            <a:off x="3780593" y="800861"/>
            <a:ext cx="8254849" cy="346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6000"/>
              <a:buFont typeface="Fira Sans"/>
              <a:buNone/>
            </a:pPr>
            <a:r>
              <a:rPr lang="pt-BR"/>
              <a:t>FIM</a:t>
            </a:r>
            <a:endParaRPr/>
          </a:p>
        </p:txBody>
      </p:sp>
      <p:sp>
        <p:nvSpPr>
          <p:cNvPr id="159" name="Google Shape;159;p23"/>
          <p:cNvSpPr txBox="1">
            <a:spLocks noGrp="1"/>
          </p:cNvSpPr>
          <p:nvPr>
            <p:ph type="subTitle" idx="1"/>
          </p:nvPr>
        </p:nvSpPr>
        <p:spPr>
          <a:xfrm>
            <a:off x="3780593" y="4414058"/>
            <a:ext cx="8289485" cy="901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</a:pPr>
            <a:r>
              <a:rPr lang="pt-BR" dirty="0"/>
              <a:t>Obrigada pela sua atenção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5d471751-9675-428d-917b-70f44f9630b0}" enabled="0" method="" siteId="{5d471751-9675-428d-917b-70f44f9630b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1819</TotalTime>
  <Words>836</Words>
  <Application>Microsoft Office PowerPoint</Application>
  <PresentationFormat>Widescreen</PresentationFormat>
  <Paragraphs>142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Fira Sans</vt:lpstr>
      <vt:lpstr>Cambria Math</vt:lpstr>
      <vt:lpstr>Office Theme</vt:lpstr>
      <vt:lpstr>Detecção de Comunidades em Redes Complexas </vt:lpstr>
      <vt:lpstr>Contextualização do Problema:  Detecção de Comunidades em Redes Complexas</vt:lpstr>
      <vt:lpstr>Método</vt:lpstr>
      <vt:lpstr>Datasets Utilizados</vt:lpstr>
      <vt:lpstr> Framework Atual Inspirado no artigo base </vt:lpstr>
      <vt:lpstr>Medida de Proximidade Dissimilarity Index</vt:lpstr>
      <vt:lpstr>Simulated Annealing</vt:lpstr>
      <vt:lpstr>Simulated Annealing</vt:lpstr>
      <vt:lpstr>Exeperimentos Realizados</vt:lpstr>
      <vt:lpstr>Resultados</vt:lpstr>
      <vt:lpstr>Comparação Métricas</vt:lpstr>
      <vt:lpstr>Comparação Funções de Resfriamento</vt:lpstr>
      <vt:lpstr>Dolphins</vt:lpstr>
      <vt:lpstr>Political Books</vt:lpstr>
      <vt:lpstr>Football</vt:lpstr>
      <vt:lpstr>Referências</vt:lpstr>
      <vt:lpstr>FIM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Malu Wuillaume (Nokia)</dc:creator>
  <cp:lastModifiedBy>Malu Wuillaume (Nokia)</cp:lastModifiedBy>
  <cp:revision>3</cp:revision>
  <dcterms:modified xsi:type="dcterms:W3CDTF">2026-06-10T13:54:14Z</dcterms:modified>
</cp:coreProperties>
</file>